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88" r:id="rId5"/>
    <p:sldId id="304" r:id="rId6"/>
    <p:sldId id="301" r:id="rId7"/>
    <p:sldId id="303" r:id="rId8"/>
    <p:sldId id="313" r:id="rId9"/>
    <p:sldId id="263" r:id="rId10"/>
    <p:sldId id="264" r:id="rId11"/>
    <p:sldId id="265" r:id="rId12"/>
    <p:sldId id="268" r:id="rId13"/>
    <p:sldId id="262" r:id="rId14"/>
    <p:sldId id="314" r:id="rId15"/>
    <p:sldId id="319" r:id="rId16"/>
    <p:sldId id="318" r:id="rId17"/>
    <p:sldId id="316" r:id="rId18"/>
    <p:sldId id="315" r:id="rId19"/>
    <p:sldId id="320" r:id="rId20"/>
    <p:sldId id="321" r:id="rId21"/>
    <p:sldId id="269" r:id="rId22"/>
    <p:sldId id="270" r:id="rId23"/>
    <p:sldId id="27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D92688-50DA-9704-7FBE-234DE99E1CFF}" v="104" dt="2025-12-06T08:08:43.289"/>
    <p1510:client id="{9460F964-DB04-FAFD-1BB5-4920A4AC7A18}" v="27" dt="2025-12-06T08:13:30.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9687E7-BC56-4F26-B661-CBBDBF1D235D}" type="datetimeFigureOut">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DE8F43-B91A-4BC3-B61E-DA9F4765AF54}" type="slidenum">
              <a:t>‹#›</a:t>
            </a:fld>
            <a:endParaRPr lang="en-US"/>
          </a:p>
        </p:txBody>
      </p:sp>
    </p:spTree>
    <p:extLst>
      <p:ext uri="{BB962C8B-B14F-4D97-AF65-F5344CB8AC3E}">
        <p14:creationId xmlns:p14="http://schemas.microsoft.com/office/powerpoint/2010/main" val="2392527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862743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martArt 2">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5202437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63740897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7002568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4517003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4998552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2 conten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2646548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Content and Image 1">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527678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arxiv.org/abs/2501.07197" TargetMode="External"/><Relationship Id="rId2" Type="http://schemas.openxmlformats.org/officeDocument/2006/relationships/hyperlink" Target="https://arxiv.org/abs/2501.02785"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C9BAFD6C-A14B-5F7C-9614-B7DB7753B490}"/>
              </a:ext>
            </a:extLst>
          </p:cNvPr>
          <p:cNvSpPr txBox="1">
            <a:spLocks/>
          </p:cNvSpPr>
          <p:nvPr/>
        </p:nvSpPr>
        <p:spPr>
          <a:xfrm>
            <a:off x="371960" y="1887077"/>
            <a:ext cx="11533495" cy="2470819"/>
          </a:xfrm>
          <a:prstGeom prst="rect">
            <a:avLst/>
          </a:prstGeom>
        </p:spPr>
        <p:txBody>
          <a:bodyPr vert="horz" lIns="91440" tIns="45720" rIns="91440" bIns="45720" rtlCol="0" anchor="t">
            <a:noAutofit/>
          </a:bodyP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i="1" dirty="0">
                <a:solidFill>
                  <a:srgbClr val="FF5500"/>
                </a:solidFill>
                <a:latin typeface="Times New Roman"/>
                <a:cs typeface="Times New Roman"/>
              </a:rPr>
              <a:t>                           </a:t>
            </a:r>
            <a:r>
              <a:rPr lang="en-US" sz="2600" b="1" dirty="0">
                <a:solidFill>
                  <a:srgbClr val="FF5500"/>
                </a:solidFill>
                <a:latin typeface="Times New Roman"/>
                <a:cs typeface="Times New Roman"/>
              </a:rPr>
              <a:t> </a:t>
            </a:r>
            <a:r>
              <a:rPr lang="en-US" sz="2600" b="1" u="sng" dirty="0">
                <a:solidFill>
                  <a:srgbClr val="FF5500"/>
                </a:solidFill>
                <a:latin typeface="Times New Roman"/>
                <a:cs typeface="Times New Roman"/>
              </a:rPr>
              <a:t>Department of Computer Science &amp; Engineering</a:t>
            </a:r>
            <a:endParaRPr lang="en-US" sz="2600" dirty="0">
              <a:solidFill>
                <a:srgbClr val="000000"/>
              </a:solidFill>
              <a:latin typeface="Times New Roman"/>
              <a:cs typeface="Times New Roman"/>
            </a:endParaRPr>
          </a:p>
          <a:p>
            <a:pPr algn="ctr"/>
            <a:r>
              <a:rPr lang="en-US" sz="2200" b="1" dirty="0">
                <a:solidFill>
                  <a:srgbClr val="7030A0"/>
                </a:solidFill>
                <a:latin typeface="Times New Roman"/>
                <a:cs typeface="Times New Roman"/>
              </a:rPr>
              <a:t>Project Title :</a:t>
            </a:r>
            <a:endParaRPr lang="en-US" sz="2200">
              <a:latin typeface="Times New Roman"/>
              <a:cs typeface="Times New Roman"/>
            </a:endParaRPr>
          </a:p>
          <a:p>
            <a:pPr algn="ctr"/>
            <a:r>
              <a:rPr lang="en-US" sz="2800" b="1" i="1" dirty="0">
                <a:solidFill>
                  <a:srgbClr val="FF0000"/>
                </a:solidFill>
                <a:latin typeface="Times New Roman"/>
                <a:cs typeface="Times New Roman"/>
              </a:rPr>
              <a:t>"</a:t>
            </a:r>
            <a:r>
              <a:rPr lang="en-US" sz="2800" b="1" dirty="0">
                <a:solidFill>
                  <a:srgbClr val="FF0000"/>
                </a:solidFill>
                <a:latin typeface="Times New Roman"/>
                <a:ea typeface="+mn-lt"/>
                <a:cs typeface="Times New Roman"/>
              </a:rPr>
              <a:t>Lung Cancer Detection using CT(Computed Tomography) Image Processing &amp; ML</a:t>
            </a:r>
            <a:r>
              <a:rPr lang="en-US" sz="2800" b="1" i="1" dirty="0">
                <a:solidFill>
                  <a:srgbClr val="FF0000"/>
                </a:solidFill>
                <a:latin typeface="Times New Roman"/>
                <a:cs typeface="Times New Roman"/>
              </a:rPr>
              <a:t>“</a:t>
            </a:r>
            <a:endParaRPr lang="en-GB" sz="2800" b="1" i="1">
              <a:solidFill>
                <a:srgbClr val="FF0000"/>
              </a:solidFill>
              <a:latin typeface="Times New Roman"/>
              <a:cs typeface="Times New Roman"/>
            </a:endParaRPr>
          </a:p>
          <a:p>
            <a:pPr algn="ctr"/>
            <a:endParaRPr lang="en-GB" sz="2500" b="1" i="1" dirty="0">
              <a:solidFill>
                <a:schemeClr val="accent1"/>
              </a:solidFill>
              <a:latin typeface="Times New Roman"/>
              <a:cs typeface="Times New Roman"/>
            </a:endParaRPr>
          </a:p>
        </p:txBody>
      </p:sp>
      <p:sp>
        <p:nvSpPr>
          <p:cNvPr id="19" name="Content Placeholder 3">
            <a:extLst>
              <a:ext uri="{FF2B5EF4-FFF2-40B4-BE49-F238E27FC236}">
                <a16:creationId xmlns:a16="http://schemas.microsoft.com/office/drawing/2014/main" id="{00693E73-4087-ECCB-FE7B-0F80D3A8B7D4}"/>
              </a:ext>
            </a:extLst>
          </p:cNvPr>
          <p:cNvSpPr txBox="1">
            <a:spLocks/>
          </p:cNvSpPr>
          <p:nvPr/>
        </p:nvSpPr>
        <p:spPr>
          <a:xfrm>
            <a:off x="375898" y="3726672"/>
            <a:ext cx="11819283" cy="1732901"/>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200" b="1" dirty="0">
                <a:solidFill>
                  <a:srgbClr val="FF5500"/>
                </a:solidFill>
                <a:latin typeface="Times New Roman"/>
                <a:cs typeface="Times New Roman"/>
              </a:rPr>
              <a:t>                                                               </a:t>
            </a:r>
            <a:r>
              <a:rPr lang="en-US" sz="2300" b="1" dirty="0">
                <a:solidFill>
                  <a:srgbClr val="FF5500"/>
                </a:solidFill>
                <a:latin typeface="Times New Roman"/>
                <a:cs typeface="Times New Roman"/>
              </a:rPr>
              <a:t>      </a:t>
            </a:r>
            <a:r>
              <a:rPr lang="en-US" sz="2300" b="1" dirty="0">
                <a:solidFill>
                  <a:srgbClr val="7030A0"/>
                </a:solidFill>
                <a:latin typeface="Times New Roman"/>
                <a:cs typeface="Times New Roman"/>
              </a:rPr>
              <a:t>Presented By :</a:t>
            </a:r>
            <a:endParaRPr lang="en-US" dirty="0">
              <a:solidFill>
                <a:schemeClr val="accent1"/>
              </a:solidFill>
              <a:latin typeface="Aptos" panose="020B0004020202020204"/>
              <a:cs typeface="Times New Roman"/>
            </a:endParaRPr>
          </a:p>
          <a:p>
            <a:pPr algn="just"/>
            <a:r>
              <a:rPr lang="en-US" sz="2200" b="1" dirty="0">
                <a:solidFill>
                  <a:schemeClr val="accent1"/>
                </a:solidFill>
                <a:latin typeface="Times New Roman"/>
                <a:cs typeface="Times New Roman"/>
              </a:rPr>
              <a:t>                                 Mr. Aftab I </a:t>
            </a:r>
            <a:r>
              <a:rPr lang="en-US" sz="2200" b="1" err="1">
                <a:solidFill>
                  <a:schemeClr val="accent1"/>
                </a:solidFill>
                <a:latin typeface="Times New Roman"/>
                <a:cs typeface="Times New Roman"/>
              </a:rPr>
              <a:t>Yaragatti</a:t>
            </a:r>
            <a:r>
              <a:rPr lang="en-US" sz="2200" b="1" dirty="0">
                <a:solidFill>
                  <a:schemeClr val="accent1"/>
                </a:solidFill>
                <a:latin typeface="Times New Roman"/>
                <a:cs typeface="Times New Roman"/>
              </a:rPr>
              <a:t>                           USN : 2HN22CS005</a:t>
            </a:r>
            <a:endParaRPr lang="en-US" dirty="0">
              <a:solidFill>
                <a:schemeClr val="accent1"/>
              </a:solidFill>
              <a:cs typeface="Times New Roman"/>
            </a:endParaRPr>
          </a:p>
          <a:p>
            <a:pPr algn="just"/>
            <a:r>
              <a:rPr lang="en-US" sz="2200" b="1" dirty="0">
                <a:solidFill>
                  <a:schemeClr val="accent1"/>
                </a:solidFill>
                <a:latin typeface="Times New Roman"/>
                <a:cs typeface="Times New Roman"/>
              </a:rPr>
              <a:t>                                 Miss. Bhagyashree S Poojari               USN : 2HN22CS013</a:t>
            </a:r>
          </a:p>
          <a:p>
            <a:pPr algn="just"/>
            <a:r>
              <a:rPr lang="en-US" sz="2200" b="1" dirty="0">
                <a:solidFill>
                  <a:schemeClr val="accent1"/>
                </a:solidFill>
                <a:latin typeface="Times New Roman"/>
                <a:cs typeface="Times New Roman"/>
              </a:rPr>
              <a:t>                                 Miss. Kavita K </a:t>
            </a:r>
            <a:r>
              <a:rPr lang="en-US" sz="2200" b="1" err="1">
                <a:solidFill>
                  <a:schemeClr val="accent1"/>
                </a:solidFill>
                <a:latin typeface="Times New Roman"/>
                <a:cs typeface="Times New Roman"/>
              </a:rPr>
              <a:t>Dodagoudanavar</a:t>
            </a:r>
            <a:r>
              <a:rPr lang="en-US" sz="2200" b="1" dirty="0">
                <a:solidFill>
                  <a:schemeClr val="accent1"/>
                </a:solidFill>
                <a:latin typeface="Times New Roman"/>
                <a:cs typeface="Times New Roman"/>
              </a:rPr>
              <a:t>        USN : 2HN22CS024</a:t>
            </a:r>
          </a:p>
          <a:p>
            <a:pPr algn="just"/>
            <a:r>
              <a:rPr lang="en-US" sz="2200" b="1" dirty="0">
                <a:solidFill>
                  <a:schemeClr val="accent1"/>
                </a:solidFill>
                <a:latin typeface="Times New Roman"/>
                <a:cs typeface="Times New Roman"/>
              </a:rPr>
              <a:t>                                 Miss. Laxmi A Bilur                              USN : 2HN22CS026</a:t>
            </a:r>
          </a:p>
          <a:p>
            <a:endParaRPr lang="en-US" sz="2000" dirty="0">
              <a:latin typeface="Times New Roman" panose="02020603050405020304" pitchFamily="18" charset="0"/>
              <a:cs typeface="Times New Roman" panose="02020603050405020304" pitchFamily="18" charset="0"/>
            </a:endParaRPr>
          </a:p>
        </p:txBody>
      </p:sp>
      <p:pic>
        <p:nvPicPr>
          <p:cNvPr id="21" name="Picture 20" descr="A close up of a logo">
            <a:extLst>
              <a:ext uri="{FF2B5EF4-FFF2-40B4-BE49-F238E27FC236}">
                <a16:creationId xmlns:a16="http://schemas.microsoft.com/office/drawing/2014/main" id="{B7724DFC-2661-FFA5-1654-5F235DB5F0F3}"/>
              </a:ext>
            </a:extLst>
          </p:cNvPr>
          <p:cNvPicPr>
            <a:picLocks noChangeAspect="1"/>
          </p:cNvPicPr>
          <p:nvPr/>
        </p:nvPicPr>
        <p:blipFill>
          <a:blip r:embed="rId2"/>
          <a:stretch>
            <a:fillRect/>
          </a:stretch>
        </p:blipFill>
        <p:spPr>
          <a:xfrm>
            <a:off x="31416" y="-3941"/>
            <a:ext cx="12146795" cy="1886356"/>
          </a:xfrm>
          <a:prstGeom prst="rect">
            <a:avLst/>
          </a:prstGeom>
        </p:spPr>
      </p:pic>
      <p:sp>
        <p:nvSpPr>
          <p:cNvPr id="23" name="TextBox 22">
            <a:extLst>
              <a:ext uri="{FF2B5EF4-FFF2-40B4-BE49-F238E27FC236}">
                <a16:creationId xmlns:a16="http://schemas.microsoft.com/office/drawing/2014/main" id="{61A84CD5-AF62-7BF9-D39B-58DDF6D85F8B}"/>
              </a:ext>
            </a:extLst>
          </p:cNvPr>
          <p:cNvSpPr txBox="1"/>
          <p:nvPr/>
        </p:nvSpPr>
        <p:spPr>
          <a:xfrm>
            <a:off x="1571104" y="5949042"/>
            <a:ext cx="9695957" cy="9130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90000"/>
              </a:lnSpc>
              <a:spcBef>
                <a:spcPts val="1000"/>
              </a:spcBef>
            </a:pPr>
            <a:r>
              <a:rPr lang="en-GB" sz="2200" b="1" i="1" dirty="0">
                <a:solidFill>
                  <a:srgbClr val="7030A0"/>
                </a:solidFill>
                <a:latin typeface="Times New Roman"/>
                <a:cs typeface="Times New Roman"/>
              </a:rPr>
              <a:t>Under the Guidance of :</a:t>
            </a:r>
            <a:r>
              <a:rPr lang="en-GB" sz="2500" b="1" i="1" dirty="0">
                <a:solidFill>
                  <a:srgbClr val="7030A0"/>
                </a:solidFill>
                <a:latin typeface="Times New Roman"/>
                <a:cs typeface="Times New Roman"/>
              </a:rPr>
              <a:t> </a:t>
            </a:r>
            <a:endParaRPr lang="en-US" sz="2500" b="1">
              <a:solidFill>
                <a:srgbClr val="7030A0"/>
              </a:solidFill>
              <a:latin typeface="Times New Roman"/>
              <a:cs typeface="Times New Roman"/>
            </a:endParaRPr>
          </a:p>
          <a:p>
            <a:pPr algn="ctr">
              <a:lnSpc>
                <a:spcPct val="90000"/>
              </a:lnSpc>
              <a:spcBef>
                <a:spcPts val="1000"/>
              </a:spcBef>
            </a:pPr>
            <a:r>
              <a:rPr lang="en-GB" sz="2500" b="1" dirty="0">
                <a:solidFill>
                  <a:srgbClr val="FF0000"/>
                </a:solidFill>
                <a:latin typeface="Times New Roman"/>
                <a:cs typeface="Times New Roman"/>
              </a:rPr>
              <a:t>Prof. M. G. Ganachari </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F148DD4-4828-CE87-0C5C-42BE175E8DA5}"/>
              </a:ext>
            </a:extLst>
          </p:cNvPr>
          <p:cNvSpPr>
            <a:spLocks noGrp="1"/>
          </p:cNvSpPr>
          <p:nvPr/>
        </p:nvSpPr>
        <p:spPr>
          <a:xfrm>
            <a:off x="391297" y="1371600"/>
            <a:ext cx="11337324" cy="4114800"/>
          </a:xfrm>
          <a:prstGeom prst="rect">
            <a:avLst/>
          </a:prstGeom>
        </p:spPr>
        <p:txBody>
          <a:bodyPr vert="horz" lIns="91440" tIns="45720" rIns="91440" bIns="45720" rtlCol="0" anchor="ctr" anchorCtr="0">
            <a:noAutofit/>
          </a:bodyPr>
          <a:lstStyle>
            <a:lvl1pPr algn="l" defTabSz="914400" rtl="0" eaLnBrk="1" latinLnBrk="0" hangingPunct="1">
              <a:lnSpc>
                <a:spcPct val="80000"/>
              </a:lnSpc>
              <a:spcBef>
                <a:spcPct val="0"/>
              </a:spcBef>
              <a:buNone/>
              <a:defRPr sz="6000" b="1" kern="1200">
                <a:solidFill>
                  <a:schemeClr val="tx1"/>
                </a:solidFill>
                <a:latin typeface="+mj-lt"/>
                <a:ea typeface="+mj-ea"/>
                <a:cs typeface="+mj-cs"/>
              </a:defRPr>
            </a:lvl1pPr>
          </a:lstStyle>
          <a:p>
            <a:pPr algn="ctr"/>
            <a:r>
              <a:rPr lang="en-US" sz="5500"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Tenorite"/>
                <a:cs typeface="Times New Roman"/>
              </a:rPr>
              <a:t>"</a:t>
            </a:r>
            <a:r>
              <a:rPr lang="en-US" sz="5500" dirty="0">
                <a:ln w="17780" cmpd="sng">
                  <a:solidFill>
                    <a:schemeClr val="accent1">
                      <a:tint val="3000"/>
                    </a:schemeClr>
                  </a:solidFill>
                  <a:prstDash val="solid"/>
                  <a:miter lim="800000"/>
                </a:ln>
                <a:solidFill>
                  <a:srgbClr val="FF0000"/>
                </a:solidFill>
                <a:effectLst>
                  <a:outerShdw blurRad="55000" dist="50800" dir="5400000" algn="tl">
                    <a:srgbClr val="000000">
                      <a:alpha val="33000"/>
                    </a:srgbClr>
                  </a:outerShdw>
                </a:effectLst>
                <a:latin typeface="Tenorite"/>
                <a:cs typeface="Times New Roman"/>
              </a:rPr>
              <a:t>Lung Cancer Detection using CT(Computed Tomography) Image Processing &amp; Machine Learning</a:t>
            </a:r>
            <a:r>
              <a:rPr lang="en-US" sz="5500"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Tenorite"/>
                <a:cs typeface="Times New Roman"/>
              </a:rPr>
              <a:t>"</a:t>
            </a:r>
            <a:endParaRPr lang="en-US" sz="5500" dirty="0">
              <a:cs typeface="Times New Roman"/>
            </a:endParaRPr>
          </a:p>
        </p:txBody>
      </p:sp>
    </p:spTree>
    <p:extLst>
      <p:ext uri="{BB962C8B-B14F-4D97-AF65-F5344CB8AC3E}">
        <p14:creationId xmlns:p14="http://schemas.microsoft.com/office/powerpoint/2010/main" val="535407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12DF434-28DB-4621-A497-D62C41CE0419}"/>
              </a:ext>
            </a:extLst>
          </p:cNvPr>
          <p:cNvSpPr>
            <a:spLocks noGrp="1"/>
          </p:cNvSpPr>
          <p:nvPr/>
        </p:nvSpPr>
        <p:spPr>
          <a:xfrm>
            <a:off x="1323964" y="609600"/>
            <a:ext cx="9779183" cy="380380"/>
          </a:xfrm>
          <a:prstGeom prst="rect">
            <a:avLst/>
          </a:prstGeom>
        </p:spPr>
        <p:txBody>
          <a:bodyPr vert="horz" lIns="91440" tIns="45720" rIns="91440" bIns="45720" rtlCol="0" anchor="b">
            <a:noAutofit/>
          </a:bodyPr>
          <a:lstStyle>
            <a:defPPr>
              <a:defRPr lang="en-US"/>
            </a:defPPr>
            <a:lvl1pPr marL="0" algn="l" defTabSz="914400" rtl="0" eaLnBrk="1" latinLnBrk="0" hangingPunct="1">
              <a:lnSpc>
                <a:spcPct val="80000"/>
              </a:lnSpc>
              <a:spcBef>
                <a:spcPct val="0"/>
              </a:spcBef>
              <a:buNone/>
              <a:defRPr sz="4200" b="1"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dirty="0">
                <a:solidFill>
                  <a:srgbClr val="00B0F0"/>
                </a:solidFill>
                <a:latin typeface="Times New Roman"/>
                <a:cs typeface="Times New Roman"/>
              </a:rPr>
              <a:t>Agenda</a:t>
            </a:r>
          </a:p>
        </p:txBody>
      </p:sp>
      <p:sp>
        <p:nvSpPr>
          <p:cNvPr id="9" name="Content Placeholder 2">
            <a:extLst>
              <a:ext uri="{FF2B5EF4-FFF2-40B4-BE49-F238E27FC236}">
                <a16:creationId xmlns:a16="http://schemas.microsoft.com/office/drawing/2014/main" id="{22788C46-D0BC-4307-AE55-7601A139E7CB}"/>
              </a:ext>
            </a:extLst>
          </p:cNvPr>
          <p:cNvSpPr>
            <a:spLocks noGrp="1"/>
          </p:cNvSpPr>
          <p:nvPr/>
        </p:nvSpPr>
        <p:spPr>
          <a:xfrm>
            <a:off x="1323639" y="998901"/>
            <a:ext cx="10670136" cy="5249305"/>
          </a:xfrm>
          <a:prstGeom prst="rect">
            <a:avLst/>
          </a:prstGeom>
        </p:spPr>
        <p:txBody>
          <a:bodyPr vert="horz" lIns="91440" tIns="45720" rIns="91440" bIns="45720" rtlCol="0" anchor="t">
            <a:noAutofit/>
          </a:bodyPr>
          <a:lstStyle>
            <a:defPPr>
              <a:defRPr lang="en-US"/>
            </a:defPPr>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Arial" panose="020B0604020202020204" pitchFamily="34" charset="0"/>
              <a:buChar char="•"/>
            </a:pPr>
            <a:r>
              <a:rPr lang="en-US" sz="3200" dirty="0">
                <a:latin typeface="Times New Roman"/>
                <a:cs typeface="Times New Roman"/>
              </a:rPr>
              <a:t>Introduction</a:t>
            </a:r>
          </a:p>
          <a:p>
            <a:pPr marL="514350" indent="-514350">
              <a:buFont typeface="Arial" panose="020B0604020202020204" pitchFamily="34" charset="0"/>
              <a:buChar char="•"/>
            </a:pPr>
            <a:r>
              <a:rPr lang="en-US" sz="3200" dirty="0">
                <a:latin typeface="Times New Roman"/>
                <a:cs typeface="Times New Roman"/>
              </a:rPr>
              <a:t>Proposed System</a:t>
            </a:r>
          </a:p>
          <a:p>
            <a:pPr marL="514350" indent="-514350">
              <a:buFont typeface="Arial" panose="020B0604020202020204" pitchFamily="34" charset="0"/>
              <a:buChar char="•"/>
            </a:pPr>
            <a:r>
              <a:rPr lang="en-US" sz="3200" dirty="0" err="1">
                <a:latin typeface="Times New Roman"/>
                <a:cs typeface="Times New Roman"/>
              </a:rPr>
              <a:t>Exisiting</a:t>
            </a:r>
            <a:r>
              <a:rPr lang="en-US" sz="3200" dirty="0">
                <a:latin typeface="Times New Roman"/>
                <a:cs typeface="Times New Roman"/>
              </a:rPr>
              <a:t> System</a:t>
            </a:r>
          </a:p>
          <a:p>
            <a:pPr marL="514350" indent="-514350">
              <a:buFont typeface="Arial" panose="020B0604020202020204" pitchFamily="34" charset="0"/>
              <a:buChar char="•"/>
            </a:pPr>
            <a:r>
              <a:rPr lang="en-US" sz="3200" dirty="0" err="1">
                <a:latin typeface="Times New Roman"/>
                <a:cs typeface="Times New Roman"/>
              </a:rPr>
              <a:t>Methedology</a:t>
            </a:r>
          </a:p>
          <a:p>
            <a:pPr marL="514350" indent="-514350">
              <a:buFont typeface="Arial" panose="020B0604020202020204" pitchFamily="34" charset="0"/>
              <a:buChar char="•"/>
            </a:pPr>
            <a:r>
              <a:rPr lang="en-US" sz="3200" dirty="0">
                <a:latin typeface="Times New Roman"/>
                <a:cs typeface="Times New Roman"/>
              </a:rPr>
              <a:t>Data flow diagram</a:t>
            </a:r>
            <a:endParaRPr lang="en-GB" sz="3200" dirty="0">
              <a:latin typeface="Times New Roman"/>
              <a:cs typeface="Times New Roman"/>
            </a:endParaRPr>
          </a:p>
          <a:p>
            <a:pPr marL="514350" indent="-514350">
              <a:buFont typeface="Arial" panose="020B0604020202020204" pitchFamily="34" charset="0"/>
              <a:buChar char="•"/>
            </a:pPr>
            <a:r>
              <a:rPr lang="en-GB" sz="3200" dirty="0">
                <a:latin typeface="Times New Roman"/>
                <a:cs typeface="Times New Roman"/>
              </a:rPr>
              <a:t>System Requirements </a:t>
            </a:r>
          </a:p>
          <a:p>
            <a:pPr marL="514350" indent="-514350">
              <a:buFont typeface="Arial" panose="020B0604020202020204" pitchFamily="34" charset="0"/>
              <a:buChar char="•"/>
            </a:pPr>
            <a:r>
              <a:rPr lang="en-US" sz="3200" dirty="0">
                <a:latin typeface="Times New Roman"/>
                <a:cs typeface="Times New Roman"/>
              </a:rPr>
              <a:t>Expected Outcome</a:t>
            </a:r>
          </a:p>
          <a:p>
            <a:pPr marL="514350" indent="-514350">
              <a:buFont typeface="Arial" panose="020B0604020202020204" pitchFamily="34" charset="0"/>
              <a:buChar char="•"/>
            </a:pPr>
            <a:r>
              <a:rPr lang="en-US" sz="3200" dirty="0">
                <a:latin typeface="Times New Roman"/>
                <a:cs typeface="Times New Roman"/>
              </a:rPr>
              <a:t>Advantages</a:t>
            </a:r>
          </a:p>
          <a:p>
            <a:pPr marL="514350" indent="-514350">
              <a:buFont typeface="Arial" panose="020B0604020202020204" pitchFamily="34" charset="0"/>
              <a:buChar char="•"/>
            </a:pPr>
            <a:r>
              <a:rPr lang="en-US" sz="3200" dirty="0">
                <a:latin typeface="Times New Roman"/>
                <a:cs typeface="Times New Roman"/>
              </a:rPr>
              <a:t>Conclusion</a:t>
            </a:r>
          </a:p>
          <a:p>
            <a:pPr marL="514350" indent="-514350">
              <a:buFont typeface="Arial" panose="020B0604020202020204" pitchFamily="34" charset="0"/>
              <a:buChar char="•"/>
            </a:pPr>
            <a:r>
              <a:rPr lang="en-US" sz="3200" dirty="0">
                <a:latin typeface="Times New Roman"/>
                <a:ea typeface="+mn-lt"/>
                <a:cs typeface="Times New Roman"/>
              </a:rPr>
              <a:t>References</a:t>
            </a:r>
            <a:endParaRPr lang="en-US" sz="3200" dirty="0">
              <a:latin typeface="Times New Roman"/>
              <a:cs typeface="Times New Roman"/>
            </a:endParaRPr>
          </a:p>
        </p:txBody>
      </p:sp>
    </p:spTree>
    <p:extLst>
      <p:ext uri="{BB962C8B-B14F-4D97-AF65-F5344CB8AC3E}">
        <p14:creationId xmlns:p14="http://schemas.microsoft.com/office/powerpoint/2010/main" val="2302652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p:cNvSpPr/>
          <p:nvPr/>
        </p:nvSpPr>
        <p:spPr>
          <a:xfrm>
            <a:off x="0" y="-3992"/>
            <a:ext cx="12192000" cy="6858000"/>
          </a:xfrm>
          <a:prstGeom prst="rect">
            <a:avLst/>
          </a:prstGeom>
          <a:solidFill>
            <a:srgbClr val="EEEFF5"/>
          </a:solidFill>
          <a:ln/>
        </p:spPr>
        <p:txBody>
          <a:bodyPr lIns="64008" tIns="32004" rIns="64008" bIns="32004"/>
          <a:lstStyle/>
          <a:p>
            <a:endParaRPr lang="en-IN" dirty="0"/>
          </a:p>
        </p:txBody>
      </p:sp>
      <p:sp>
        <p:nvSpPr>
          <p:cNvPr id="3" name="Subtitle 2">
            <a:extLst>
              <a:ext uri="{FF2B5EF4-FFF2-40B4-BE49-F238E27FC236}">
                <a16:creationId xmlns:a16="http://schemas.microsoft.com/office/drawing/2014/main" id="{26BC9DE8-A5CC-4BE1-0DE5-CB15D01A7919}"/>
              </a:ext>
            </a:extLst>
          </p:cNvPr>
          <p:cNvSpPr>
            <a:spLocks noGrp="1"/>
          </p:cNvSpPr>
          <p:nvPr>
            <p:ph type="subTitle" idx="1"/>
          </p:nvPr>
        </p:nvSpPr>
        <p:spPr>
          <a:xfrm>
            <a:off x="189470" y="-1715"/>
            <a:ext cx="11804135" cy="6339015"/>
          </a:xfrm>
        </p:spPr>
        <p:txBody>
          <a:bodyPr/>
          <a:lstStyle/>
          <a:p>
            <a:pPr algn="ctr"/>
            <a:r>
              <a:rPr lang="en-US" sz="4400" b="1" u="sng" dirty="0">
                <a:solidFill>
                  <a:schemeClr val="accent1"/>
                </a:solidFill>
                <a:latin typeface="Times New Roman"/>
                <a:cs typeface="Times New Roman"/>
              </a:rPr>
              <a:t>Introduction</a:t>
            </a:r>
            <a:r>
              <a:rPr lang="en-US" sz="4400" b="1" dirty="0">
                <a:solidFill>
                  <a:schemeClr val="accent1"/>
                </a:solidFill>
                <a:latin typeface="Times New Roman"/>
                <a:cs typeface="Times New Roman"/>
              </a:rPr>
              <a:t> </a:t>
            </a:r>
            <a:endParaRPr lang="en-US" sz="4200">
              <a:solidFill>
                <a:schemeClr val="accent1"/>
              </a:solidFill>
              <a:latin typeface="Times New Roman"/>
              <a:cs typeface="Times New Roman"/>
            </a:endParaRPr>
          </a:p>
          <a:p>
            <a:pPr algn="just"/>
            <a:r>
              <a:rPr lang="en-US" sz="2800" dirty="0">
                <a:solidFill>
                  <a:srgbClr val="002060"/>
                </a:solidFill>
                <a:latin typeface="Times New Roman"/>
                <a:cs typeface="Times New Roman"/>
              </a:rPr>
              <a:t>       </a:t>
            </a:r>
            <a:r>
              <a:rPr lang="en-US" sz="3150" dirty="0">
                <a:solidFill>
                  <a:srgbClr val="002060"/>
                </a:solidFill>
                <a:latin typeface="Times New Roman"/>
                <a:ea typeface="+mn-lt"/>
                <a:cs typeface="+mn-lt"/>
              </a:rPr>
              <a:t>Lung cancer is one of the leading causes of cancer-related deaths worldwide. Early detection plays a crucial role in improving survival rates, as treatment is more effective in the initial stages of the disease.  Computed Tomography (CT) scans provide detailed imaging of lung structures, enabling better analysis for cancer detection.</a:t>
            </a:r>
            <a:endParaRPr lang="en-US" sz="3150">
              <a:solidFill>
                <a:srgbClr val="000000"/>
              </a:solidFill>
              <a:latin typeface="Times New Roman"/>
              <a:ea typeface="+mn-lt"/>
              <a:cs typeface="Times New Roman" panose="02020603050405020304" pitchFamily="18" charset="0"/>
            </a:endParaRPr>
          </a:p>
          <a:p>
            <a:pPr algn="just"/>
            <a:r>
              <a:rPr lang="en-US" sz="3150" dirty="0">
                <a:solidFill>
                  <a:srgbClr val="002060"/>
                </a:solidFill>
                <a:latin typeface="Times New Roman"/>
                <a:ea typeface="+mn-lt"/>
                <a:cs typeface="+mn-lt"/>
              </a:rPr>
              <a:t>      With advancements in Machine Learning (ML) and Image Processing, automated lung cancer detection systems are being developed to assist radiologists in diagnosing cancer with higher accuracy and efficiency. These systems utilize deep learning models, convolutional neural networks (CNNs), and image processing techniques to analyze CT scan images, identify abnormalities, and classify cancer stages.</a:t>
            </a:r>
            <a:endParaRPr lang="en-US" sz="3150">
              <a:latin typeface="Times New Roman"/>
              <a:ea typeface="+mn-lt"/>
              <a:cs typeface="+mn-lt"/>
            </a:endParaRPr>
          </a:p>
        </p:txBody>
      </p:sp>
    </p:spTree>
    <p:extLst>
      <p:ext uri="{BB962C8B-B14F-4D97-AF65-F5344CB8AC3E}">
        <p14:creationId xmlns:p14="http://schemas.microsoft.com/office/powerpoint/2010/main" val="77975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EEBAA-8827-418B-856D-D450384E32FA}"/>
              </a:ext>
            </a:extLst>
          </p:cNvPr>
          <p:cNvSpPr>
            <a:spLocks noGrp="1"/>
          </p:cNvSpPr>
          <p:nvPr>
            <p:ph type="title"/>
          </p:nvPr>
        </p:nvSpPr>
        <p:spPr>
          <a:xfrm>
            <a:off x="838200" y="0"/>
            <a:ext cx="10515600" cy="1325563"/>
          </a:xfrm>
        </p:spPr>
        <p:txBody>
          <a:bodyPr>
            <a:normAutofit/>
          </a:bodyPr>
          <a:lstStyle/>
          <a:p>
            <a:pPr algn="ctr"/>
            <a:r>
              <a:rPr lang="en-US" sz="5400" b="1" dirty="0">
                <a:solidFill>
                  <a:srgbClr val="00B0F0"/>
                </a:solidFill>
                <a:latin typeface="Times New Roman"/>
                <a:cs typeface="Times New Roman"/>
              </a:rPr>
              <a:t>Proposed System  </a:t>
            </a:r>
            <a:endParaRPr lang="en-IN" sz="5400" dirty="0"/>
          </a:p>
        </p:txBody>
      </p:sp>
      <p:sp>
        <p:nvSpPr>
          <p:cNvPr id="3" name="Content Placeholder 2">
            <a:extLst>
              <a:ext uri="{FF2B5EF4-FFF2-40B4-BE49-F238E27FC236}">
                <a16:creationId xmlns:a16="http://schemas.microsoft.com/office/drawing/2014/main" id="{DE3A4F8B-2833-4DA4-A6E4-91B377957376}"/>
              </a:ext>
            </a:extLst>
          </p:cNvPr>
          <p:cNvSpPr>
            <a:spLocks noGrp="1"/>
          </p:cNvSpPr>
          <p:nvPr>
            <p:ph idx="1"/>
          </p:nvPr>
        </p:nvSpPr>
        <p:spPr>
          <a:xfrm>
            <a:off x="838200" y="1200150"/>
            <a:ext cx="10515600" cy="5572125"/>
          </a:xfrm>
        </p:spPr>
        <p:txBody>
          <a:bodyPr>
            <a:normAutofit lnSpcReduction="10000"/>
          </a:bodyPr>
          <a:lstStyle/>
          <a:p>
            <a:pPr marL="0" indent="0">
              <a:lnSpc>
                <a:spcPct val="150000"/>
              </a:lnSpc>
              <a:buNone/>
            </a:pPr>
            <a:r>
              <a:rPr lang="en-US" sz="3600" b="1" u="sng" dirty="0">
                <a:solidFill>
                  <a:srgbClr val="FF0000"/>
                </a:solidFill>
                <a:latin typeface="Times New Roman"/>
                <a:ea typeface="+mn-lt"/>
                <a:cs typeface="Times New Roman"/>
              </a:rPr>
              <a:t>Solution of Proposed System </a:t>
            </a:r>
            <a:r>
              <a:rPr lang="en-US" sz="3600" b="1" dirty="0">
                <a:solidFill>
                  <a:srgbClr val="FF0000"/>
                </a:solidFill>
                <a:latin typeface="Times New Roman"/>
                <a:ea typeface="+mn-lt"/>
                <a:cs typeface="Times New Roman"/>
              </a:rPr>
              <a:t>: </a:t>
            </a:r>
          </a:p>
          <a:p>
            <a:pPr>
              <a:lnSpc>
                <a:spcPct val="150000"/>
              </a:lnSpc>
              <a:buFont typeface="Wingdings" panose="05000000000000000000" pitchFamily="2" charset="2"/>
              <a:buChar char="Ø"/>
            </a:pPr>
            <a:r>
              <a:rPr lang="en-US" dirty="0">
                <a:latin typeface="Times New Roman"/>
                <a:ea typeface="+mn-lt"/>
                <a:cs typeface="Times New Roman"/>
              </a:rPr>
              <a:t> </a:t>
            </a:r>
            <a:r>
              <a:rPr lang="en-US" sz="3000" dirty="0">
                <a:latin typeface="Times New Roman"/>
                <a:ea typeface="+mn-lt"/>
                <a:cs typeface="Times New Roman"/>
              </a:rPr>
              <a:t>Increased Accuracy and Reduced Errors</a:t>
            </a:r>
            <a:endParaRPr lang="en-US" sz="3000" dirty="0"/>
          </a:p>
          <a:p>
            <a:pPr>
              <a:lnSpc>
                <a:spcPct val="150000"/>
              </a:lnSpc>
              <a:buFont typeface="Wingdings" panose="05000000000000000000" pitchFamily="2" charset="2"/>
              <a:buChar char="Ø"/>
            </a:pPr>
            <a:r>
              <a:rPr lang="en-US" sz="3000" dirty="0">
                <a:latin typeface="Times New Roman"/>
                <a:ea typeface="+mn-lt"/>
                <a:cs typeface="Times New Roman"/>
              </a:rPr>
              <a:t> Faster Diagnosis</a:t>
            </a:r>
          </a:p>
          <a:p>
            <a:pPr>
              <a:lnSpc>
                <a:spcPct val="150000"/>
              </a:lnSpc>
              <a:buFont typeface="Wingdings" panose="05000000000000000000" pitchFamily="2" charset="2"/>
              <a:buChar char="Ø"/>
            </a:pPr>
            <a:r>
              <a:rPr lang="en-US" sz="3000" dirty="0">
                <a:latin typeface="Times New Roman"/>
                <a:ea typeface="+mn-lt"/>
                <a:cs typeface="Times New Roman"/>
              </a:rPr>
              <a:t> Enhanced Consistency</a:t>
            </a:r>
          </a:p>
          <a:p>
            <a:pPr>
              <a:lnSpc>
                <a:spcPct val="150000"/>
              </a:lnSpc>
              <a:buFont typeface="Wingdings" panose="05000000000000000000" pitchFamily="2" charset="2"/>
              <a:buChar char="Ø"/>
            </a:pPr>
            <a:r>
              <a:rPr lang="en-US" sz="3000" dirty="0">
                <a:latin typeface="Times New Roman"/>
                <a:ea typeface="+mn-lt"/>
                <a:cs typeface="Times New Roman"/>
              </a:rPr>
              <a:t> Scalability and Accessibility</a:t>
            </a:r>
          </a:p>
          <a:p>
            <a:pPr>
              <a:lnSpc>
                <a:spcPct val="150000"/>
              </a:lnSpc>
              <a:buFont typeface="Wingdings" panose="05000000000000000000" pitchFamily="2" charset="2"/>
              <a:buChar char="Ø"/>
            </a:pPr>
            <a:r>
              <a:rPr lang="en-US" sz="3000" dirty="0">
                <a:latin typeface="Times New Roman"/>
                <a:ea typeface="+mn-lt"/>
                <a:cs typeface="Times New Roman"/>
              </a:rPr>
              <a:t> Reduced Workload on Radiologists</a:t>
            </a:r>
          </a:p>
          <a:p>
            <a:pPr>
              <a:lnSpc>
                <a:spcPct val="150000"/>
              </a:lnSpc>
              <a:buFont typeface="Wingdings" panose="05000000000000000000" pitchFamily="2" charset="2"/>
              <a:buChar char="Ø"/>
            </a:pPr>
            <a:r>
              <a:rPr lang="en-US" sz="3000" dirty="0">
                <a:latin typeface="Times New Roman"/>
                <a:ea typeface="+mn-lt"/>
                <a:cs typeface="Times New Roman"/>
              </a:rPr>
              <a:t>Improved Early Detection Rates</a:t>
            </a:r>
            <a:endParaRPr lang="en-US" sz="3000" dirty="0">
              <a:latin typeface="Times New Roman"/>
              <a:cs typeface="Times New Roman"/>
            </a:endParaRPr>
          </a:p>
          <a:p>
            <a:pPr marL="514350" indent="-514350">
              <a:buAutoNum type="arabicPeriod"/>
            </a:pPr>
            <a:endParaRPr lang="en-US" dirty="0">
              <a:latin typeface="Times New Roman"/>
              <a:cs typeface="Times New Roman"/>
            </a:endParaRPr>
          </a:p>
          <a:p>
            <a:endParaRPr lang="en-IN" dirty="0"/>
          </a:p>
        </p:txBody>
      </p:sp>
    </p:spTree>
    <p:extLst>
      <p:ext uri="{BB962C8B-B14F-4D97-AF65-F5344CB8AC3E}">
        <p14:creationId xmlns:p14="http://schemas.microsoft.com/office/powerpoint/2010/main" val="796728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7D14D7-1E8A-41BC-BEEC-9146F4EBD04A}"/>
              </a:ext>
            </a:extLst>
          </p:cNvPr>
          <p:cNvSpPr>
            <a:spLocks noGrp="1"/>
          </p:cNvSpPr>
          <p:nvPr>
            <p:ph idx="1"/>
          </p:nvPr>
        </p:nvSpPr>
        <p:spPr>
          <a:xfrm>
            <a:off x="228601" y="990599"/>
            <a:ext cx="11782424" cy="5014913"/>
          </a:xfrm>
        </p:spPr>
        <p:txBody>
          <a:bodyPr>
            <a:noAutofit/>
          </a:bodyPr>
          <a:lstStyle/>
          <a:p>
            <a:pPr marL="0" indent="0">
              <a:lnSpc>
                <a:spcPct val="150000"/>
              </a:lnSpc>
              <a:buNone/>
            </a:pPr>
            <a:r>
              <a:rPr lang="en-US" sz="3600" b="1" dirty="0">
                <a:solidFill>
                  <a:srgbClr val="FF0000"/>
                </a:solidFill>
                <a:latin typeface="Times New Roman" panose="02020603050405020304" pitchFamily="18" charset="0"/>
                <a:cs typeface="Times New Roman" panose="02020603050405020304" pitchFamily="18" charset="0"/>
              </a:rPr>
              <a:t>    </a:t>
            </a:r>
            <a:r>
              <a:rPr lang="en-US" sz="3600" b="1" u="sng" dirty="0">
                <a:solidFill>
                  <a:srgbClr val="FF0000"/>
                </a:solidFill>
                <a:latin typeface="Times New Roman" panose="02020603050405020304" pitchFamily="18" charset="0"/>
                <a:cs typeface="Times New Roman" panose="02020603050405020304" pitchFamily="18" charset="0"/>
              </a:rPr>
              <a:t>Purpose of the Project :</a:t>
            </a:r>
          </a:p>
          <a:p>
            <a:pPr lvl="1">
              <a:lnSpc>
                <a:spcPct val="150000"/>
              </a:lnSpc>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Early Detection of Lung Cancer</a:t>
            </a:r>
          </a:p>
          <a:p>
            <a:pPr lvl="1">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 Reduce Diagnostic Errors</a:t>
            </a:r>
          </a:p>
          <a:p>
            <a:pPr lvl="1">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 Improve Diagnostic Speed and Efficiency</a:t>
            </a:r>
          </a:p>
          <a:p>
            <a:pPr lvl="1">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 Leverage Machine Learning for Medical Imaging</a:t>
            </a:r>
          </a:p>
          <a:p>
            <a:pPr lvl="1">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 Support in Resource-Constrained Settings</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865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CD518-B3B3-4AE2-965B-AAA111F27670}"/>
              </a:ext>
            </a:extLst>
          </p:cNvPr>
          <p:cNvSpPr>
            <a:spLocks noGrp="1"/>
          </p:cNvSpPr>
          <p:nvPr>
            <p:ph type="title"/>
          </p:nvPr>
        </p:nvSpPr>
        <p:spPr>
          <a:xfrm>
            <a:off x="838200" y="0"/>
            <a:ext cx="10515600" cy="1325563"/>
          </a:xfrm>
        </p:spPr>
        <p:txBody>
          <a:bodyPr>
            <a:normAutofit/>
          </a:bodyPr>
          <a:lstStyle/>
          <a:p>
            <a:pPr algn="ctr"/>
            <a:r>
              <a:rPr lang="en-US" sz="5400" b="1" dirty="0">
                <a:solidFill>
                  <a:srgbClr val="00B0F0"/>
                </a:solidFill>
                <a:latin typeface="Times New Roman"/>
                <a:cs typeface="Times New Roman"/>
              </a:rPr>
              <a:t>Existing System</a:t>
            </a:r>
            <a:endParaRPr lang="en-IN" sz="5400" dirty="0"/>
          </a:p>
        </p:txBody>
      </p:sp>
      <p:sp>
        <p:nvSpPr>
          <p:cNvPr id="3" name="Content Placeholder 2">
            <a:extLst>
              <a:ext uri="{FF2B5EF4-FFF2-40B4-BE49-F238E27FC236}">
                <a16:creationId xmlns:a16="http://schemas.microsoft.com/office/drawing/2014/main" id="{2A03EC55-1F80-4893-AC85-E3A62A82EB38}"/>
              </a:ext>
            </a:extLst>
          </p:cNvPr>
          <p:cNvSpPr>
            <a:spLocks noGrp="1"/>
          </p:cNvSpPr>
          <p:nvPr>
            <p:ph idx="1"/>
          </p:nvPr>
        </p:nvSpPr>
        <p:spPr>
          <a:xfrm>
            <a:off x="838201" y="1152525"/>
            <a:ext cx="10515600" cy="5553075"/>
          </a:xfrm>
        </p:spPr>
        <p:txBody>
          <a:bodyPr>
            <a:normAutofit fontScale="92500" lnSpcReduction="10000"/>
          </a:bodyPr>
          <a:lstStyle/>
          <a:p>
            <a:pPr marL="0" indent="0">
              <a:lnSpc>
                <a:spcPct val="150000"/>
              </a:lnSpc>
              <a:buNone/>
            </a:pPr>
            <a:r>
              <a:rPr lang="en-US" sz="3900" b="1" u="sng" dirty="0">
                <a:solidFill>
                  <a:srgbClr val="FF0000"/>
                </a:solidFill>
                <a:latin typeface="Times New Roman"/>
                <a:ea typeface="+mn-lt"/>
                <a:cs typeface="Times New Roman"/>
              </a:rPr>
              <a:t>Problems of Existing System </a:t>
            </a:r>
            <a:r>
              <a:rPr lang="en-US" sz="3900" dirty="0">
                <a:latin typeface="Times New Roman"/>
                <a:ea typeface="+mn-lt"/>
                <a:cs typeface="Times New Roman"/>
              </a:rPr>
              <a:t>: </a:t>
            </a:r>
          </a:p>
          <a:p>
            <a:pPr>
              <a:lnSpc>
                <a:spcPct val="150000"/>
              </a:lnSpc>
              <a:buFont typeface="Wingdings" panose="05000000000000000000" pitchFamily="2" charset="2"/>
              <a:buChar char="Ø"/>
            </a:pPr>
            <a:r>
              <a:rPr lang="en-US" sz="3200" dirty="0">
                <a:latin typeface="Times New Roman"/>
                <a:ea typeface="+mn-lt"/>
                <a:cs typeface="Times New Roman"/>
              </a:rPr>
              <a:t> Human Error in Interpretation </a:t>
            </a:r>
          </a:p>
          <a:p>
            <a:pPr>
              <a:lnSpc>
                <a:spcPct val="150000"/>
              </a:lnSpc>
              <a:buFont typeface="Wingdings" panose="05000000000000000000" pitchFamily="2" charset="2"/>
              <a:buChar char="Ø"/>
            </a:pPr>
            <a:r>
              <a:rPr lang="en-US" sz="3200" dirty="0">
                <a:latin typeface="Times New Roman"/>
                <a:ea typeface="+mn-lt"/>
                <a:cs typeface="Times New Roman"/>
              </a:rPr>
              <a:t> Time-Consuming Process </a:t>
            </a:r>
          </a:p>
          <a:p>
            <a:pPr>
              <a:lnSpc>
                <a:spcPct val="150000"/>
              </a:lnSpc>
              <a:buFont typeface="Wingdings" panose="05000000000000000000" pitchFamily="2" charset="2"/>
              <a:buChar char="Ø"/>
            </a:pPr>
            <a:r>
              <a:rPr lang="en-US" sz="3200" dirty="0">
                <a:latin typeface="Times New Roman"/>
                <a:ea typeface="+mn-lt"/>
                <a:cs typeface="Times New Roman"/>
              </a:rPr>
              <a:t> Inconsistent Results Across Radiologists </a:t>
            </a:r>
          </a:p>
          <a:p>
            <a:pPr>
              <a:lnSpc>
                <a:spcPct val="150000"/>
              </a:lnSpc>
              <a:buFont typeface="Wingdings" panose="05000000000000000000" pitchFamily="2" charset="2"/>
              <a:buChar char="Ø"/>
            </a:pPr>
            <a:r>
              <a:rPr lang="en-US" sz="3200" dirty="0">
                <a:latin typeface="Times New Roman"/>
                <a:ea typeface="+mn-lt"/>
                <a:cs typeface="Times New Roman"/>
              </a:rPr>
              <a:t> Limited Detection of Subtle Tumors </a:t>
            </a:r>
          </a:p>
          <a:p>
            <a:pPr>
              <a:lnSpc>
                <a:spcPct val="150000"/>
              </a:lnSpc>
              <a:buFont typeface="Wingdings" panose="05000000000000000000" pitchFamily="2" charset="2"/>
              <a:buChar char="Ø"/>
            </a:pPr>
            <a:r>
              <a:rPr lang="en-US" sz="3200" dirty="0">
                <a:latin typeface="Times New Roman"/>
                <a:ea typeface="+mn-lt"/>
                <a:cs typeface="Times New Roman"/>
              </a:rPr>
              <a:t> Difficulty in Handling Large Volumes of Data </a:t>
            </a:r>
          </a:p>
          <a:p>
            <a:pPr>
              <a:lnSpc>
                <a:spcPct val="150000"/>
              </a:lnSpc>
              <a:buFont typeface="Wingdings" panose="05000000000000000000" pitchFamily="2" charset="2"/>
              <a:buChar char="Ø"/>
            </a:pPr>
            <a:r>
              <a:rPr lang="en-US" sz="3200" dirty="0">
                <a:latin typeface="Times New Roman"/>
                <a:ea typeface="+mn-lt"/>
                <a:cs typeface="Times New Roman"/>
              </a:rPr>
              <a:t> Difficulty in Classifying Tumors </a:t>
            </a:r>
            <a:endParaRPr lang="en-US" sz="3200" dirty="0">
              <a:latin typeface="Times New Roman"/>
              <a:cs typeface="Times New Roman"/>
            </a:endParaRPr>
          </a:p>
          <a:p>
            <a:pPr>
              <a:lnSpc>
                <a:spcPct val="150000"/>
              </a:lnSpc>
            </a:pPr>
            <a:endParaRPr lang="en-IN" sz="3200" dirty="0"/>
          </a:p>
        </p:txBody>
      </p:sp>
    </p:spTree>
    <p:extLst>
      <p:ext uri="{BB962C8B-B14F-4D97-AF65-F5344CB8AC3E}">
        <p14:creationId xmlns:p14="http://schemas.microsoft.com/office/powerpoint/2010/main" val="4087603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59F91-EAE9-69AA-5665-F9EA691D01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319A2-236B-8120-C6E7-6FE72F998372}"/>
              </a:ext>
            </a:extLst>
          </p:cNvPr>
          <p:cNvSpPr>
            <a:spLocks noGrp="1"/>
          </p:cNvSpPr>
          <p:nvPr>
            <p:ph type="title"/>
          </p:nvPr>
        </p:nvSpPr>
        <p:spPr>
          <a:xfrm>
            <a:off x="838200" y="0"/>
            <a:ext cx="10515600" cy="1325563"/>
          </a:xfrm>
        </p:spPr>
        <p:txBody>
          <a:bodyPr>
            <a:normAutofit/>
          </a:bodyPr>
          <a:lstStyle/>
          <a:p>
            <a:pPr algn="ctr"/>
            <a:r>
              <a:rPr lang="en-US" sz="5400" b="1" dirty="0" err="1">
                <a:solidFill>
                  <a:srgbClr val="00B0F0"/>
                </a:solidFill>
                <a:latin typeface="Times New Roman"/>
                <a:cs typeface="Times New Roman"/>
              </a:rPr>
              <a:t>Methedology</a:t>
            </a:r>
            <a:r>
              <a:rPr lang="en-US" sz="5400" b="1" dirty="0">
                <a:solidFill>
                  <a:srgbClr val="00B0F0"/>
                </a:solidFill>
                <a:latin typeface="Times New Roman"/>
                <a:cs typeface="Times New Roman"/>
              </a:rPr>
              <a:t>  </a:t>
            </a:r>
            <a:endParaRPr lang="en-IN" sz="5400" dirty="0">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1E9F71ED-E2E9-DB07-9D8C-893E4541BEF6}"/>
              </a:ext>
            </a:extLst>
          </p:cNvPr>
          <p:cNvSpPr>
            <a:spLocks noGrp="1"/>
          </p:cNvSpPr>
          <p:nvPr>
            <p:ph idx="1"/>
          </p:nvPr>
        </p:nvSpPr>
        <p:spPr>
          <a:xfrm>
            <a:off x="838200" y="1200150"/>
            <a:ext cx="10515600" cy="5314218"/>
          </a:xfrm>
        </p:spPr>
        <p:txBody>
          <a:bodyPr vert="horz" lIns="91440" tIns="45720" rIns="91440" bIns="45720" rtlCol="0" anchor="t">
            <a:normAutofit/>
          </a:bodyPr>
          <a:lstStyle/>
          <a:p>
            <a:pPr marL="457200" indent="-457200">
              <a:lnSpc>
                <a:spcPct val="150000"/>
              </a:lnSpc>
              <a:buFont typeface="Wingdings" panose="020B0604020202020204" pitchFamily="34" charset="0"/>
              <a:buChar char="Ø"/>
            </a:pPr>
            <a:r>
              <a:rPr lang="en-US" sz="3200" dirty="0">
                <a:latin typeface="Times New Roman"/>
                <a:ea typeface="+mn-lt"/>
                <a:cs typeface="+mn-lt"/>
              </a:rPr>
              <a:t>Data Collection: CT scan images from standard datasets.</a:t>
            </a:r>
            <a:endParaRPr lang="en-US" sz="3200">
              <a:latin typeface="Times New Roman"/>
              <a:ea typeface="Calibri"/>
              <a:cs typeface="Calibri"/>
            </a:endParaRPr>
          </a:p>
          <a:p>
            <a:pPr marL="457200" indent="-457200">
              <a:lnSpc>
                <a:spcPct val="150000"/>
              </a:lnSpc>
              <a:buFont typeface="Wingdings" panose="020B0604020202020204" pitchFamily="34" charset="0"/>
              <a:buChar char="Ø"/>
            </a:pPr>
            <a:r>
              <a:rPr lang="en-US" sz="3200" dirty="0">
                <a:latin typeface="Times New Roman"/>
                <a:ea typeface="+mn-lt"/>
                <a:cs typeface="+mn-lt"/>
              </a:rPr>
              <a:t>Preprocessing: HU windowing, resizing, normalization.</a:t>
            </a:r>
            <a:endParaRPr lang="en-US" sz="3200">
              <a:latin typeface="Times New Roman"/>
              <a:ea typeface="Calibri"/>
              <a:cs typeface="Calibri"/>
            </a:endParaRPr>
          </a:p>
          <a:p>
            <a:pPr marL="457200" indent="-457200">
              <a:lnSpc>
                <a:spcPct val="150000"/>
              </a:lnSpc>
              <a:buFont typeface="Wingdings" panose="020B0604020202020204" pitchFamily="34" charset="0"/>
              <a:buChar char="Ø"/>
            </a:pPr>
            <a:r>
              <a:rPr lang="en-US" sz="3200" dirty="0">
                <a:latin typeface="Times New Roman"/>
                <a:ea typeface="+mn-lt"/>
                <a:cs typeface="+mn-lt"/>
              </a:rPr>
              <a:t>Segmentation: Extract lung region (U-Net).</a:t>
            </a:r>
            <a:endParaRPr lang="en-US" sz="3200">
              <a:latin typeface="Times New Roman"/>
              <a:ea typeface="Calibri"/>
              <a:cs typeface="Calibri"/>
            </a:endParaRPr>
          </a:p>
          <a:p>
            <a:pPr marL="457200" indent="-457200">
              <a:lnSpc>
                <a:spcPct val="150000"/>
              </a:lnSpc>
              <a:buFont typeface="Wingdings" panose="020B0604020202020204" pitchFamily="34" charset="0"/>
              <a:buChar char="Ø"/>
            </a:pPr>
            <a:r>
              <a:rPr lang="en-US" sz="3200" dirty="0">
                <a:latin typeface="Times New Roman"/>
                <a:ea typeface="+mn-lt"/>
                <a:cs typeface="+mn-lt"/>
              </a:rPr>
              <a:t>Feature Extraction: CNN/Transfer Learning models.</a:t>
            </a:r>
            <a:endParaRPr lang="en-US" sz="3200">
              <a:latin typeface="Times New Roman"/>
              <a:ea typeface="Calibri"/>
              <a:cs typeface="Calibri"/>
            </a:endParaRPr>
          </a:p>
          <a:p>
            <a:pPr marL="457200" indent="-457200">
              <a:lnSpc>
                <a:spcPct val="150000"/>
              </a:lnSpc>
              <a:buFont typeface="Wingdings" panose="020B0604020202020204" pitchFamily="34" charset="0"/>
              <a:buChar char="Ø"/>
            </a:pPr>
            <a:r>
              <a:rPr lang="en-US" sz="3200" dirty="0">
                <a:latin typeface="Times New Roman"/>
                <a:ea typeface="+mn-lt"/>
                <a:cs typeface="+mn-lt"/>
              </a:rPr>
              <a:t>Classification: Predict malignant vs benign.</a:t>
            </a:r>
          </a:p>
          <a:p>
            <a:pPr marL="457200" indent="-457200">
              <a:lnSpc>
                <a:spcPct val="150000"/>
              </a:lnSpc>
              <a:buFont typeface="Wingdings" panose="020B0604020202020204" pitchFamily="34" charset="0"/>
              <a:buChar char="Ø"/>
            </a:pPr>
            <a:r>
              <a:rPr lang="en-US" sz="3200" dirty="0">
                <a:latin typeface="Times New Roman"/>
                <a:ea typeface="+mn-lt"/>
                <a:cs typeface="+mn-lt"/>
              </a:rPr>
              <a:t>Evaluation: Accuracy, AUC, Sensitivity, Grad-CAM.</a:t>
            </a:r>
            <a:endParaRPr lang="en-US" sz="3200">
              <a:latin typeface="Times New Roman"/>
              <a:ea typeface="Calibri"/>
              <a:cs typeface="Calibri"/>
            </a:endParaRPr>
          </a:p>
          <a:p>
            <a:pPr marL="514350" indent="-514350">
              <a:buFont typeface="Wingdings" panose="020B0604020202020204" pitchFamily="34" charset="0"/>
              <a:buChar char="Ø"/>
            </a:pPr>
            <a:endParaRPr lang="en-US" dirty="0">
              <a:latin typeface="Times New Roman"/>
              <a:cs typeface="Times New Roman"/>
            </a:endParaRPr>
          </a:p>
          <a:p>
            <a:pPr>
              <a:buFont typeface="Wingdings" panose="020B0604020202020204" pitchFamily="34" charset="0"/>
              <a:buChar char="Ø"/>
            </a:pPr>
            <a:endParaRPr lang="en-IN" dirty="0">
              <a:ea typeface="Calibri" panose="020F0502020204030204"/>
              <a:cs typeface="Calibri" panose="020F0502020204030204"/>
            </a:endParaRPr>
          </a:p>
        </p:txBody>
      </p:sp>
    </p:spTree>
    <p:extLst>
      <p:ext uri="{BB962C8B-B14F-4D97-AF65-F5344CB8AC3E}">
        <p14:creationId xmlns:p14="http://schemas.microsoft.com/office/powerpoint/2010/main" val="3250827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08832-7DDA-8CB6-C53C-46028260A24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AFC4ADA-1776-CDEB-8E83-3D9E9F314E77}"/>
              </a:ext>
            </a:extLst>
          </p:cNvPr>
          <p:cNvSpPr>
            <a:spLocks noGrp="1"/>
          </p:cNvSpPr>
          <p:nvPr/>
        </p:nvSpPr>
        <p:spPr>
          <a:xfrm>
            <a:off x="1206408" y="-213582"/>
            <a:ext cx="9779183" cy="925269"/>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GB" sz="4400" err="1">
                <a:solidFill>
                  <a:schemeClr val="accent1"/>
                </a:solidFill>
                <a:latin typeface="Times New Roman"/>
                <a:cs typeface="Times New Roman"/>
              </a:rPr>
              <a:t>DataFlow</a:t>
            </a:r>
            <a:r>
              <a:rPr lang="en-GB" sz="4400" dirty="0">
                <a:solidFill>
                  <a:schemeClr val="accent1"/>
                </a:solidFill>
                <a:latin typeface="Times New Roman"/>
                <a:cs typeface="Times New Roman"/>
              </a:rPr>
              <a:t> Diagram </a:t>
            </a:r>
            <a:endParaRPr lang="en-US" sz="4400">
              <a:solidFill>
                <a:schemeClr val="accent1"/>
              </a:solidFill>
              <a:latin typeface="Times New Roman"/>
              <a:cs typeface="Times New Roman"/>
            </a:endParaRPr>
          </a:p>
        </p:txBody>
      </p:sp>
      <p:pic>
        <p:nvPicPr>
          <p:cNvPr id="4" name="Picture 3" descr="A diagram of a software development process&#10;&#10;AI-generated content may be incorrect.">
            <a:extLst>
              <a:ext uri="{FF2B5EF4-FFF2-40B4-BE49-F238E27FC236}">
                <a16:creationId xmlns:a16="http://schemas.microsoft.com/office/drawing/2014/main" id="{2860A075-E70E-AB22-5946-DB1BBFC31E0A}"/>
              </a:ext>
            </a:extLst>
          </p:cNvPr>
          <p:cNvPicPr>
            <a:picLocks noChangeAspect="1"/>
          </p:cNvPicPr>
          <p:nvPr/>
        </p:nvPicPr>
        <p:blipFill>
          <a:blip r:embed="rId2"/>
          <a:stretch>
            <a:fillRect/>
          </a:stretch>
        </p:blipFill>
        <p:spPr>
          <a:xfrm>
            <a:off x="168113" y="857904"/>
            <a:ext cx="11879219" cy="5175936"/>
          </a:xfrm>
          <a:prstGeom prst="rect">
            <a:avLst/>
          </a:prstGeom>
        </p:spPr>
      </p:pic>
      <p:sp>
        <p:nvSpPr>
          <p:cNvPr id="5" name="TextBox 2">
            <a:extLst>
              <a:ext uri="{FF2B5EF4-FFF2-40B4-BE49-F238E27FC236}">
                <a16:creationId xmlns:a16="http://schemas.microsoft.com/office/drawing/2014/main" id="{6CB48878-7F1D-B8EB-57FA-E94748FE875C}"/>
              </a:ext>
            </a:extLst>
          </p:cNvPr>
          <p:cNvSpPr txBox="1"/>
          <p:nvPr/>
        </p:nvSpPr>
        <p:spPr>
          <a:xfrm>
            <a:off x="4150513" y="6175768"/>
            <a:ext cx="3133844"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Fig 1.1 : Data Flow Diagram</a:t>
            </a:r>
          </a:p>
        </p:txBody>
      </p:sp>
    </p:spTree>
    <p:extLst>
      <p:ext uri="{BB962C8B-B14F-4D97-AF65-F5344CB8AC3E}">
        <p14:creationId xmlns:p14="http://schemas.microsoft.com/office/powerpoint/2010/main" val="556616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61A2B-F6B8-A6B2-76EA-9C953FA84755}"/>
            </a:ext>
          </a:extLst>
        </p:cNvPr>
        <p:cNvGrpSpPr/>
        <p:nvPr/>
      </p:nvGrpSpPr>
      <p:grpSpPr>
        <a:xfrm>
          <a:off x="0" y="0"/>
          <a:ext cx="0" cy="0"/>
          <a:chOff x="0" y="0"/>
          <a:chExt cx="0" cy="0"/>
        </a:xfrm>
      </p:grpSpPr>
      <p:pic>
        <p:nvPicPr>
          <p:cNvPr id="2" name="Picture 1" descr="A diagram of a process&#10;&#10;AI-generated content may be incorrect.">
            <a:extLst>
              <a:ext uri="{FF2B5EF4-FFF2-40B4-BE49-F238E27FC236}">
                <a16:creationId xmlns:a16="http://schemas.microsoft.com/office/drawing/2014/main" id="{5D2B443E-2ADD-3AAB-9325-FB8BADBE0BD3}"/>
              </a:ext>
            </a:extLst>
          </p:cNvPr>
          <p:cNvPicPr>
            <a:picLocks noChangeAspect="1"/>
          </p:cNvPicPr>
          <p:nvPr/>
        </p:nvPicPr>
        <p:blipFill>
          <a:blip r:embed="rId2"/>
          <a:stretch>
            <a:fillRect/>
          </a:stretch>
        </p:blipFill>
        <p:spPr>
          <a:xfrm>
            <a:off x="2320703" y="164123"/>
            <a:ext cx="7187179" cy="6342185"/>
          </a:xfrm>
          <a:prstGeom prst="rect">
            <a:avLst/>
          </a:prstGeom>
        </p:spPr>
      </p:pic>
      <p:sp>
        <p:nvSpPr>
          <p:cNvPr id="3" name="TextBox 2">
            <a:extLst>
              <a:ext uri="{FF2B5EF4-FFF2-40B4-BE49-F238E27FC236}">
                <a16:creationId xmlns:a16="http://schemas.microsoft.com/office/drawing/2014/main" id="{530A8777-1345-A55F-B7A9-C00348EDFCAA}"/>
              </a:ext>
            </a:extLst>
          </p:cNvPr>
          <p:cNvSpPr txBox="1"/>
          <p:nvPr/>
        </p:nvSpPr>
        <p:spPr>
          <a:xfrm>
            <a:off x="4273092" y="6485130"/>
            <a:ext cx="5233875"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Fig 1.2 : </a:t>
            </a:r>
            <a:r>
              <a:rPr lang="en-US" b="1"/>
              <a:t>Data Flow</a:t>
            </a:r>
            <a:r>
              <a:rPr lang="en-US" b="1" dirty="0"/>
              <a:t> Diagram</a:t>
            </a:r>
            <a:endParaRPr lang="en-US" dirty="0"/>
          </a:p>
        </p:txBody>
      </p:sp>
    </p:spTree>
    <p:extLst>
      <p:ext uri="{BB962C8B-B14F-4D97-AF65-F5344CB8AC3E}">
        <p14:creationId xmlns:p14="http://schemas.microsoft.com/office/powerpoint/2010/main" val="1238140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64489-B420-09C1-7C4E-5FE800BC3D57}"/>
            </a:ext>
          </a:extLst>
        </p:cNvPr>
        <p:cNvGrpSpPr/>
        <p:nvPr/>
      </p:nvGrpSpPr>
      <p:grpSpPr>
        <a:xfrm>
          <a:off x="0" y="0"/>
          <a:ext cx="0" cy="0"/>
          <a:chOff x="0" y="0"/>
          <a:chExt cx="0" cy="0"/>
        </a:xfrm>
      </p:grpSpPr>
      <p:sp>
        <p:nvSpPr>
          <p:cNvPr id="3" name="Title 5">
            <a:extLst>
              <a:ext uri="{FF2B5EF4-FFF2-40B4-BE49-F238E27FC236}">
                <a16:creationId xmlns:a16="http://schemas.microsoft.com/office/drawing/2014/main" id="{EDF9E134-98AA-3ECE-E40A-180C85ACD7D5}"/>
              </a:ext>
            </a:extLst>
          </p:cNvPr>
          <p:cNvSpPr>
            <a:spLocks noGrp="1"/>
          </p:cNvSpPr>
          <p:nvPr/>
        </p:nvSpPr>
        <p:spPr>
          <a:xfrm>
            <a:off x="1167492" y="136526"/>
            <a:ext cx="9601200" cy="1890208"/>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4400" u="sng" dirty="0">
                <a:solidFill>
                  <a:schemeClr val="accent1"/>
                </a:solidFill>
                <a:latin typeface="Times New Roman" panose="02020603050405020304" pitchFamily="18" charset="0"/>
                <a:cs typeface="Times New Roman" panose="02020603050405020304" pitchFamily="18" charset="0"/>
              </a:rPr>
              <a:t>System Requirements</a:t>
            </a:r>
          </a:p>
          <a:p>
            <a:endParaRPr lang="en-US"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D1455C0B-19FB-954B-532A-0A68CAC4E0E4}"/>
              </a:ext>
            </a:extLst>
          </p:cNvPr>
          <p:cNvSpPr>
            <a:spLocks noGrp="1"/>
          </p:cNvSpPr>
          <p:nvPr/>
        </p:nvSpPr>
        <p:spPr>
          <a:xfrm>
            <a:off x="803656" y="1757284"/>
            <a:ext cx="5281277" cy="4589101"/>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83464"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2pPr>
            <a:lvl3pPr marL="566928"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3pPr>
            <a:lvl4pPr marL="850392"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4pPr>
            <a:lvl5pPr marL="1133856"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solidFill>
                  <a:srgbClr val="FF0000"/>
                </a:solidFill>
                <a:latin typeface="Times New Roman"/>
                <a:cs typeface="Times New Roman"/>
              </a:rPr>
              <a:t>Hardware Requirement </a:t>
            </a:r>
          </a:p>
          <a:p>
            <a:r>
              <a:rPr lang="en-US" sz="2800" b="1" dirty="0">
                <a:solidFill>
                  <a:schemeClr val="accent1">
                    <a:lumMod val="76000"/>
                  </a:schemeClr>
                </a:solidFill>
                <a:latin typeface="Times New Roman"/>
                <a:cs typeface="Times New Roman"/>
              </a:rPr>
              <a:t>Computer :</a:t>
            </a:r>
            <a:r>
              <a:rPr lang="en-US" sz="2800" dirty="0">
                <a:latin typeface="Times New Roman"/>
                <a:cs typeface="Times New Roman"/>
              </a:rPr>
              <a:t> A PC or Laptop with moderate to high performance.</a:t>
            </a:r>
          </a:p>
          <a:p>
            <a:r>
              <a:rPr lang="en-US" sz="2800" b="1" dirty="0">
                <a:solidFill>
                  <a:schemeClr val="accent1">
                    <a:lumMod val="76000"/>
                  </a:schemeClr>
                </a:solidFill>
                <a:latin typeface="Times New Roman"/>
                <a:cs typeface="Times New Roman"/>
              </a:rPr>
              <a:t>Processor :</a:t>
            </a:r>
            <a:r>
              <a:rPr lang="en-US" sz="2800" dirty="0">
                <a:latin typeface="Times New Roman"/>
                <a:cs typeface="Times New Roman"/>
              </a:rPr>
              <a:t> Intel i5/i7.</a:t>
            </a:r>
          </a:p>
          <a:p>
            <a:r>
              <a:rPr lang="en-US" sz="2800" b="1" dirty="0">
                <a:solidFill>
                  <a:schemeClr val="accent1">
                    <a:lumMod val="76000"/>
                  </a:schemeClr>
                </a:solidFill>
                <a:latin typeface="Times New Roman"/>
                <a:cs typeface="Times New Roman"/>
              </a:rPr>
              <a:t>RAM :</a:t>
            </a:r>
            <a:r>
              <a:rPr lang="en-US" sz="2800" dirty="0">
                <a:latin typeface="Times New Roman"/>
                <a:cs typeface="Times New Roman"/>
              </a:rPr>
              <a:t> 8GB (Minimum) or 16GB(Recommended)</a:t>
            </a:r>
            <a:r>
              <a:rPr lang="en-US" sz="2800" dirty="0">
                <a:latin typeface="Times New Roman"/>
                <a:ea typeface="+mn-lt"/>
                <a:cs typeface="Times New Roman"/>
              </a:rPr>
              <a:t> to handle large datasets</a:t>
            </a:r>
            <a:r>
              <a:rPr lang="en-US" sz="2800" dirty="0">
                <a:latin typeface="Times New Roman"/>
                <a:cs typeface="Times New Roman"/>
              </a:rPr>
              <a:t>.</a:t>
            </a:r>
          </a:p>
          <a:p>
            <a:r>
              <a:rPr lang="en-US" sz="2800" b="1" dirty="0">
                <a:solidFill>
                  <a:schemeClr val="accent1">
                    <a:lumMod val="76000"/>
                  </a:schemeClr>
                </a:solidFill>
                <a:latin typeface="Times New Roman"/>
                <a:cs typeface="Times New Roman"/>
              </a:rPr>
              <a:t>Storage :</a:t>
            </a:r>
            <a:r>
              <a:rPr lang="en-US" sz="2800" dirty="0">
                <a:latin typeface="Times New Roman"/>
                <a:cs typeface="Times New Roman"/>
              </a:rPr>
              <a:t> SSD with at least 256GB or 500</a:t>
            </a:r>
            <a:r>
              <a:rPr lang="en-US" sz="2800" dirty="0">
                <a:latin typeface="Times New Roman"/>
                <a:ea typeface="+mn-lt"/>
                <a:cs typeface="Times New Roman"/>
              </a:rPr>
              <a:t>GB(for faster file access) Storage.</a:t>
            </a:r>
            <a:endParaRPr lang="en-US" sz="2800" dirty="0">
              <a:latin typeface="Times New Roman"/>
              <a:cs typeface="Times New Roman"/>
            </a:endParaRPr>
          </a:p>
          <a:p>
            <a:endParaRPr lang="en-US" dirty="0">
              <a:latin typeface="Times New Roman"/>
              <a:cs typeface="Times New Roman"/>
            </a:endParaRPr>
          </a:p>
        </p:txBody>
      </p:sp>
      <p:sp>
        <p:nvSpPr>
          <p:cNvPr id="5" name="Content Placeholder 3">
            <a:extLst>
              <a:ext uri="{FF2B5EF4-FFF2-40B4-BE49-F238E27FC236}">
                <a16:creationId xmlns:a16="http://schemas.microsoft.com/office/drawing/2014/main" id="{DBA34351-9D9C-8C32-5CC0-3F19A1CAC037}"/>
              </a:ext>
            </a:extLst>
          </p:cNvPr>
          <p:cNvSpPr>
            <a:spLocks noGrp="1"/>
          </p:cNvSpPr>
          <p:nvPr/>
        </p:nvSpPr>
        <p:spPr>
          <a:xfrm>
            <a:off x="6365614" y="1729139"/>
            <a:ext cx="5518115" cy="4465532"/>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83464"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2pPr>
            <a:lvl3pPr marL="566928"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3pPr>
            <a:lvl4pPr marL="850392"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4pPr>
            <a:lvl5pPr marL="1133856"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solidFill>
                  <a:srgbClr val="FF0000"/>
                </a:solidFill>
                <a:latin typeface="Times New Roman"/>
                <a:cs typeface="Times New Roman"/>
              </a:rPr>
              <a:t>Software Requirements</a:t>
            </a:r>
          </a:p>
          <a:p>
            <a:r>
              <a:rPr lang="en-US" sz="2800" b="1" dirty="0">
                <a:solidFill>
                  <a:schemeClr val="accent1">
                    <a:lumMod val="76000"/>
                  </a:schemeClr>
                </a:solidFill>
                <a:latin typeface="Times New Roman"/>
                <a:cs typeface="Times New Roman"/>
              </a:rPr>
              <a:t>Operating System:</a:t>
            </a:r>
            <a:r>
              <a:rPr lang="en-US" sz="2800" dirty="0">
                <a:solidFill>
                  <a:schemeClr val="tx1">
                    <a:lumMod val="95000"/>
                    <a:lumOff val="5000"/>
                  </a:schemeClr>
                </a:solidFill>
                <a:latin typeface="Times New Roman"/>
                <a:cs typeface="Times New Roman"/>
              </a:rPr>
              <a:t> Windows 10/11</a:t>
            </a:r>
            <a:endParaRPr lang="en-US" dirty="0">
              <a:solidFill>
                <a:schemeClr val="tx1">
                  <a:lumMod val="95000"/>
                  <a:lumOff val="5000"/>
                </a:schemeClr>
              </a:solidFill>
              <a:latin typeface="Times New Roman"/>
              <a:cs typeface="Times New Roman"/>
            </a:endParaRPr>
          </a:p>
          <a:p>
            <a:r>
              <a:rPr lang="en-US" sz="2800" b="1" dirty="0">
                <a:solidFill>
                  <a:schemeClr val="accent1">
                    <a:lumMod val="76000"/>
                  </a:schemeClr>
                </a:solidFill>
                <a:latin typeface="Times New Roman"/>
                <a:cs typeface="Times New Roman"/>
              </a:rPr>
              <a:t>Code Editors :</a:t>
            </a:r>
            <a:r>
              <a:rPr lang="en-US" sz="2800" dirty="0">
                <a:latin typeface="Times New Roman"/>
                <a:cs typeface="Times New Roman"/>
              </a:rPr>
              <a:t> Visual Studio Code or Sublime text.</a:t>
            </a:r>
            <a:endParaRPr lang="en-US">
              <a:latin typeface="Times New Roman"/>
              <a:cs typeface="Times New Roman"/>
            </a:endParaRPr>
          </a:p>
          <a:p>
            <a:r>
              <a:rPr lang="en-US" sz="2800" b="1" dirty="0">
                <a:solidFill>
                  <a:schemeClr val="accent1">
                    <a:lumMod val="76000"/>
                  </a:schemeClr>
                </a:solidFill>
                <a:latin typeface="Times New Roman"/>
                <a:ea typeface="+mn-lt"/>
                <a:cs typeface="+mn-lt"/>
              </a:rPr>
              <a:t>Python Libraries: </a:t>
            </a:r>
            <a:r>
              <a:rPr lang="en-US" sz="2800" dirty="0">
                <a:solidFill>
                  <a:schemeClr val="tx1">
                    <a:lumMod val="95000"/>
                    <a:lumOff val="5000"/>
                  </a:schemeClr>
                </a:solidFill>
                <a:latin typeface="Times New Roman"/>
                <a:ea typeface="+mn-lt"/>
                <a:cs typeface="+mn-lt"/>
              </a:rPr>
              <a:t>Libraries such as OpenCV, TensorFlow, </a:t>
            </a:r>
            <a:r>
              <a:rPr lang="en-US" sz="2800" dirty="0" err="1">
                <a:solidFill>
                  <a:schemeClr val="tx1">
                    <a:lumMod val="95000"/>
                    <a:lumOff val="5000"/>
                  </a:schemeClr>
                </a:solidFill>
                <a:latin typeface="Times New Roman"/>
                <a:ea typeface="+mn-lt"/>
                <a:cs typeface="+mn-lt"/>
              </a:rPr>
              <a:t>Keras</a:t>
            </a:r>
            <a:r>
              <a:rPr lang="en-US" sz="2800" dirty="0">
                <a:solidFill>
                  <a:schemeClr val="tx1">
                    <a:lumMod val="95000"/>
                    <a:lumOff val="5000"/>
                  </a:schemeClr>
                </a:solidFill>
                <a:latin typeface="Times New Roman"/>
                <a:ea typeface="+mn-lt"/>
                <a:cs typeface="+mn-lt"/>
              </a:rPr>
              <a:t>, NumPy and Pandas, Matplotlib/Seaborn.  </a:t>
            </a:r>
            <a:endParaRPr lang="en-US">
              <a:solidFill>
                <a:schemeClr val="tx1">
                  <a:lumMod val="95000"/>
                  <a:lumOff val="5000"/>
                </a:schemeClr>
              </a:solidFill>
              <a:latin typeface="Times New Roman"/>
              <a:ea typeface="+mn-lt"/>
              <a:cs typeface="+mn-lt"/>
            </a:endParaRPr>
          </a:p>
          <a:p>
            <a:r>
              <a:rPr lang="en-US" sz="2800" b="1" dirty="0">
                <a:solidFill>
                  <a:schemeClr val="accent1">
                    <a:lumMod val="76000"/>
                  </a:schemeClr>
                </a:solidFill>
                <a:latin typeface="Times New Roman"/>
                <a:ea typeface="+mn-lt"/>
                <a:cs typeface="+mn-lt"/>
              </a:rPr>
              <a:t>AI &amp; ML Frameworks: </a:t>
            </a:r>
            <a:r>
              <a:rPr lang="en-US" sz="2800" dirty="0">
                <a:solidFill>
                  <a:schemeClr val="tx1">
                    <a:lumMod val="95000"/>
                    <a:lumOff val="5000"/>
                  </a:schemeClr>
                </a:solidFill>
                <a:latin typeface="Times New Roman"/>
                <a:ea typeface="+mn-lt"/>
                <a:cs typeface="+mn-lt"/>
              </a:rPr>
              <a:t>Darknet &amp; YOLO </a:t>
            </a:r>
            <a:endParaRPr lang="en-US">
              <a:solidFill>
                <a:schemeClr val="tx1">
                  <a:lumMod val="95000"/>
                  <a:lumOff val="5000"/>
                </a:schemeClr>
              </a:solidFill>
              <a:latin typeface="Times New Roman"/>
              <a:cs typeface="Times New Roman"/>
            </a:endParaRPr>
          </a:p>
        </p:txBody>
      </p:sp>
    </p:spTree>
    <p:extLst>
      <p:ext uri="{BB962C8B-B14F-4D97-AF65-F5344CB8AC3E}">
        <p14:creationId xmlns:p14="http://schemas.microsoft.com/office/powerpoint/2010/main" val="2354488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54045-D990-E244-9C8F-C745CF9475BC}"/>
            </a:ext>
          </a:extLst>
        </p:cNvPr>
        <p:cNvGrpSpPr/>
        <p:nvPr/>
      </p:nvGrpSpPr>
      <p:grpSpPr>
        <a:xfrm>
          <a:off x="0" y="0"/>
          <a:ext cx="0" cy="0"/>
          <a:chOff x="0" y="0"/>
          <a:chExt cx="0" cy="0"/>
        </a:xfrm>
      </p:grpSpPr>
      <p:sp>
        <p:nvSpPr>
          <p:cNvPr id="3" name="Title 5">
            <a:extLst>
              <a:ext uri="{FF2B5EF4-FFF2-40B4-BE49-F238E27FC236}">
                <a16:creationId xmlns:a16="http://schemas.microsoft.com/office/drawing/2014/main" id="{64CFB73D-B7C9-A177-04F3-E48E841A875E}"/>
              </a:ext>
            </a:extLst>
          </p:cNvPr>
          <p:cNvSpPr>
            <a:spLocks noGrp="1"/>
          </p:cNvSpPr>
          <p:nvPr/>
        </p:nvSpPr>
        <p:spPr>
          <a:xfrm>
            <a:off x="0" y="614297"/>
            <a:ext cx="12192000" cy="1387348"/>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bg1"/>
                </a:solidFill>
                <a:latin typeface="+mj-lt"/>
                <a:ea typeface="+mj-ea"/>
                <a:cs typeface="+mj-cs"/>
              </a:defRPr>
            </a:lvl1pPr>
          </a:lstStyle>
          <a:p>
            <a:pPr algn="ctr"/>
            <a:r>
              <a:rPr lang="en-US" sz="4400" u="sng" dirty="0">
                <a:solidFill>
                  <a:schemeClr val="accent1"/>
                </a:solidFill>
                <a:latin typeface="Times New Roman" panose="02020603050405020304" pitchFamily="18" charset="0"/>
                <a:cs typeface="Times New Roman" panose="02020603050405020304" pitchFamily="18" charset="0"/>
              </a:rPr>
              <a:t>Advantages</a:t>
            </a:r>
          </a:p>
          <a:p>
            <a:pPr algn="ct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BA34351-9D9C-8C32-5CC0-3F19A1CAC037}"/>
              </a:ext>
            </a:extLst>
          </p:cNvPr>
          <p:cNvSpPr>
            <a:spLocks noGrp="1"/>
          </p:cNvSpPr>
          <p:nvPr/>
        </p:nvSpPr>
        <p:spPr>
          <a:xfrm>
            <a:off x="1624171" y="1959562"/>
            <a:ext cx="8949686" cy="4269328"/>
          </a:xfrm>
          <a:prstGeom prst="rect">
            <a:avLst/>
          </a:prstGeom>
        </p:spPr>
        <p:txBody>
          <a:bodyPr vert="horz" lIns="91440" tIns="45720" rIns="91440" bIns="45720" rtlCol="0" anchor="t">
            <a:noAutofit/>
          </a:bodyPr>
          <a:lstStyle>
            <a:lvl1pPr marL="530352" indent="-530352" algn="l" defTabSz="914400" rtl="0" eaLnBrk="1" latinLnBrk="0" hangingPunct="1">
              <a:lnSpc>
                <a:spcPct val="90000"/>
              </a:lnSpc>
              <a:spcBef>
                <a:spcPts val="1000"/>
              </a:spcBef>
              <a:buFont typeface="+mj-lt"/>
              <a:buAutoNum type="arabicPeriod"/>
              <a:defRPr sz="2000" kern="1200">
                <a:solidFill>
                  <a:schemeClr val="bg1"/>
                </a:solidFill>
                <a:latin typeface="+mn-lt"/>
                <a:ea typeface="+mn-ea"/>
                <a:cs typeface="+mn-cs"/>
              </a:defRPr>
            </a:lvl1pPr>
            <a:lvl2pPr marL="1097280" indent="-530352" algn="l" defTabSz="914400" rtl="0" eaLnBrk="1" latinLnBrk="0" hangingPunct="1">
              <a:lnSpc>
                <a:spcPct val="90000"/>
              </a:lnSpc>
              <a:spcBef>
                <a:spcPts val="1000"/>
              </a:spcBef>
              <a:buFont typeface="+mj-lt"/>
              <a:buAutoNum type="alphaLcPeriod"/>
              <a:defRPr sz="2000" kern="1200">
                <a:solidFill>
                  <a:schemeClr val="bg1"/>
                </a:solidFill>
                <a:latin typeface="+mn-lt"/>
                <a:ea typeface="+mn-ea"/>
                <a:cs typeface="+mn-cs"/>
              </a:defRPr>
            </a:lvl2pPr>
            <a:lvl3pPr marL="1645920" indent="-530352" algn="l" defTabSz="914400" rtl="0" eaLnBrk="1" latinLnBrk="0" hangingPunct="1">
              <a:lnSpc>
                <a:spcPct val="90000"/>
              </a:lnSpc>
              <a:spcBef>
                <a:spcPts val="1000"/>
              </a:spcBef>
              <a:buFont typeface="+mj-lt"/>
              <a:buAutoNum type="arabicParenR"/>
              <a:defRPr sz="2000" kern="1200">
                <a:solidFill>
                  <a:schemeClr val="bg1"/>
                </a:solidFill>
                <a:latin typeface="+mn-lt"/>
                <a:ea typeface="+mn-ea"/>
                <a:cs typeface="+mn-cs"/>
              </a:defRPr>
            </a:lvl3pPr>
            <a:lvl4pPr marL="1920240" indent="-530352" algn="l" defTabSz="914400" rtl="0" eaLnBrk="1" latinLnBrk="0" hangingPunct="1">
              <a:lnSpc>
                <a:spcPct val="90000"/>
              </a:lnSpc>
              <a:spcBef>
                <a:spcPts val="1000"/>
              </a:spcBef>
              <a:buFont typeface="+mj-lt"/>
              <a:buAutoNum type="alphaLcParenR"/>
              <a:defRPr sz="2000" kern="1200">
                <a:solidFill>
                  <a:schemeClr val="bg1"/>
                </a:solidFill>
                <a:latin typeface="+mn-lt"/>
                <a:ea typeface="+mn-ea"/>
                <a:cs typeface="+mn-cs"/>
              </a:defRPr>
            </a:lvl4pPr>
            <a:lvl5pPr marL="2560320" indent="-514350" algn="l" defTabSz="914400" rtl="0" eaLnBrk="1" latinLnBrk="0" hangingPunct="1">
              <a:lnSpc>
                <a:spcPct val="90000"/>
              </a:lnSpc>
              <a:spcBef>
                <a:spcPts val="1000"/>
              </a:spcBef>
              <a:buFont typeface="+mj-lt"/>
              <a:buAutoNum type="romanLcPeriod"/>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0225" indent="-530225"/>
            <a:r>
              <a:rPr lang="en-US" sz="3200" dirty="0">
                <a:solidFill>
                  <a:schemeClr val="tx1">
                    <a:lumMod val="95000"/>
                    <a:lumOff val="5000"/>
                  </a:schemeClr>
                </a:solidFill>
                <a:ea typeface="+mn-lt"/>
                <a:cs typeface="+mn-lt"/>
              </a:rPr>
              <a:t>Early Detection &amp; Improved Survival Rates</a:t>
            </a:r>
            <a:endParaRPr lang="en-US" sz="3200">
              <a:solidFill>
                <a:schemeClr val="tx1">
                  <a:lumMod val="95000"/>
                  <a:lumOff val="5000"/>
                </a:schemeClr>
              </a:solidFill>
              <a:ea typeface="+mn-lt"/>
              <a:cs typeface="+mn-lt"/>
            </a:endParaRPr>
          </a:p>
          <a:p>
            <a:pPr marL="530225" indent="-530225"/>
            <a:r>
              <a:rPr lang="en-US" sz="3200" dirty="0">
                <a:solidFill>
                  <a:schemeClr val="tx1">
                    <a:lumMod val="95000"/>
                    <a:lumOff val="5000"/>
                  </a:schemeClr>
                </a:solidFill>
                <a:ea typeface="+mn-lt"/>
                <a:cs typeface="+mn-lt"/>
              </a:rPr>
              <a:t>Automated &amp; Faster Diagnosis</a:t>
            </a:r>
            <a:endParaRPr lang="en-US" sz="3200">
              <a:solidFill>
                <a:schemeClr val="tx1">
                  <a:lumMod val="95000"/>
                  <a:lumOff val="5000"/>
                </a:schemeClr>
              </a:solidFill>
              <a:ea typeface="+mn-lt"/>
              <a:cs typeface="+mn-lt"/>
            </a:endParaRPr>
          </a:p>
          <a:p>
            <a:pPr marL="530225" indent="-530225"/>
            <a:r>
              <a:rPr lang="en-US" sz="3200" dirty="0">
                <a:solidFill>
                  <a:schemeClr val="tx1">
                    <a:lumMod val="95000"/>
                    <a:lumOff val="5000"/>
                  </a:schemeClr>
                </a:solidFill>
                <a:ea typeface="+mn-lt"/>
                <a:cs typeface="+mn-lt"/>
              </a:rPr>
              <a:t>Higher Accuracy with Deep Learning</a:t>
            </a:r>
            <a:endParaRPr lang="en-US" sz="3200">
              <a:solidFill>
                <a:schemeClr val="tx1">
                  <a:lumMod val="95000"/>
                  <a:lumOff val="5000"/>
                </a:schemeClr>
              </a:solidFill>
              <a:ea typeface="+mn-lt"/>
              <a:cs typeface="+mn-lt"/>
            </a:endParaRPr>
          </a:p>
          <a:p>
            <a:pPr marL="530225" indent="-530225"/>
            <a:r>
              <a:rPr lang="en-US" sz="3200" dirty="0">
                <a:solidFill>
                  <a:schemeClr val="tx1">
                    <a:lumMod val="95000"/>
                    <a:lumOff val="5000"/>
                  </a:schemeClr>
                </a:solidFill>
                <a:ea typeface="+mn-lt"/>
                <a:cs typeface="+mn-lt"/>
              </a:rPr>
              <a:t>Reduced False Positives &amp; False Negatives</a:t>
            </a:r>
            <a:endParaRPr lang="en-US" sz="3200">
              <a:solidFill>
                <a:schemeClr val="tx1">
                  <a:lumMod val="95000"/>
                  <a:lumOff val="5000"/>
                </a:schemeClr>
              </a:solidFill>
              <a:ea typeface="+mn-lt"/>
              <a:cs typeface="+mn-lt"/>
            </a:endParaRPr>
          </a:p>
          <a:p>
            <a:pPr marL="530225" indent="-530225"/>
            <a:r>
              <a:rPr lang="en-US" sz="3200" dirty="0">
                <a:solidFill>
                  <a:schemeClr val="tx1">
                    <a:lumMod val="95000"/>
                    <a:lumOff val="5000"/>
                  </a:schemeClr>
                </a:solidFill>
                <a:ea typeface="+mn-lt"/>
                <a:cs typeface="+mn-lt"/>
              </a:rPr>
              <a:t>Cost-Effective Solution</a:t>
            </a:r>
            <a:endParaRPr lang="en-US" sz="3200">
              <a:solidFill>
                <a:schemeClr val="tx1">
                  <a:lumMod val="95000"/>
                  <a:lumOff val="5000"/>
                </a:schemeClr>
              </a:solidFill>
              <a:ea typeface="+mn-lt"/>
              <a:cs typeface="+mn-lt"/>
            </a:endParaRPr>
          </a:p>
          <a:p>
            <a:pPr marL="530225" indent="-530225"/>
            <a:r>
              <a:rPr lang="en-US" sz="3200" dirty="0">
                <a:solidFill>
                  <a:schemeClr val="tx1">
                    <a:lumMod val="95000"/>
                    <a:lumOff val="5000"/>
                  </a:schemeClr>
                </a:solidFill>
                <a:ea typeface="+mn-lt"/>
                <a:cs typeface="+mn-lt"/>
              </a:rPr>
              <a:t>Scalability &amp; Integration</a:t>
            </a:r>
            <a:r>
              <a:rPr lang="en-US" sz="3200" dirty="0">
                <a:solidFill>
                  <a:schemeClr val="tx1">
                    <a:lumMod val="95000"/>
                    <a:lumOff val="5000"/>
                  </a:schemeClr>
                </a:solidFill>
                <a:latin typeface="Times New Roman"/>
                <a:cs typeface="Times New Roman"/>
              </a:rPr>
              <a:t> </a:t>
            </a:r>
            <a:endParaRPr lang="en-US" sz="3200">
              <a:solidFill>
                <a:schemeClr val="tx1">
                  <a:lumMod val="95000"/>
                  <a:lumOff val="5000"/>
                </a:schemeClr>
              </a:solidFill>
            </a:endParaRPr>
          </a:p>
          <a:p>
            <a:pPr marL="530225" indent="-530225"/>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23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84BCC-5A7E-CBE0-13B8-338A67728E5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574A146-EC9E-274C-930C-F87C83A2336D}"/>
              </a:ext>
            </a:extLst>
          </p:cNvPr>
          <p:cNvSpPr>
            <a:spLocks noGrp="1"/>
          </p:cNvSpPr>
          <p:nvPr/>
        </p:nvSpPr>
        <p:spPr>
          <a:xfrm>
            <a:off x="1167492" y="136526"/>
            <a:ext cx="9779183" cy="833869"/>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4400" dirty="0">
                <a:solidFill>
                  <a:schemeClr val="accent1"/>
                </a:solidFill>
                <a:latin typeface="Times New Roman"/>
                <a:cs typeface="Times New Roman"/>
              </a:rPr>
              <a:t>Expected Outcome of this Project</a:t>
            </a:r>
            <a:endParaRPr lang="en-US" dirty="0">
              <a:solidFill>
                <a:schemeClr val="accent1"/>
              </a:solidFill>
              <a:latin typeface="Times New Roman"/>
              <a:cs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582471D8-937C-5D28-458F-A70214FEB979}"/>
              </a:ext>
            </a:extLst>
          </p:cNvPr>
          <p:cNvPicPr>
            <a:picLocks noChangeAspect="1"/>
          </p:cNvPicPr>
          <p:nvPr/>
        </p:nvPicPr>
        <p:blipFill>
          <a:blip r:embed="rId2"/>
          <a:stretch>
            <a:fillRect/>
          </a:stretch>
        </p:blipFill>
        <p:spPr>
          <a:xfrm>
            <a:off x="1175287" y="1360044"/>
            <a:ext cx="10022240" cy="4809506"/>
          </a:xfrm>
          <a:prstGeom prst="rect">
            <a:avLst/>
          </a:prstGeom>
        </p:spPr>
      </p:pic>
    </p:spTree>
    <p:extLst>
      <p:ext uri="{BB962C8B-B14F-4D97-AF65-F5344CB8AC3E}">
        <p14:creationId xmlns:p14="http://schemas.microsoft.com/office/powerpoint/2010/main" val="417879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7551C-3666-5337-CE7B-E934C6936C7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B432A67-42D7-3EBB-4B34-2CAB907DFAB6}"/>
              </a:ext>
            </a:extLst>
          </p:cNvPr>
          <p:cNvSpPr>
            <a:spLocks noGrp="1"/>
          </p:cNvSpPr>
          <p:nvPr/>
        </p:nvSpPr>
        <p:spPr>
          <a:xfrm>
            <a:off x="1167492" y="136526"/>
            <a:ext cx="9779183" cy="833869"/>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4400" dirty="0">
                <a:solidFill>
                  <a:schemeClr val="accent1"/>
                </a:solidFill>
                <a:latin typeface="Times New Roman"/>
                <a:cs typeface="Times New Roman"/>
              </a:rPr>
              <a:t>Expected Outcome of this Project</a:t>
            </a:r>
            <a:endParaRPr lang="en-US" dirty="0">
              <a:solidFill>
                <a:schemeClr val="accent1"/>
              </a:solidFill>
              <a:latin typeface="Times New Roman"/>
              <a:cs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8147BAF4-933F-8731-DDC8-3EAD518F8E05}"/>
              </a:ext>
            </a:extLst>
          </p:cNvPr>
          <p:cNvPicPr>
            <a:picLocks noChangeAspect="1"/>
          </p:cNvPicPr>
          <p:nvPr/>
        </p:nvPicPr>
        <p:blipFill>
          <a:blip r:embed="rId2"/>
          <a:stretch>
            <a:fillRect/>
          </a:stretch>
        </p:blipFill>
        <p:spPr>
          <a:xfrm>
            <a:off x="1175287" y="1455232"/>
            <a:ext cx="10022240" cy="4619129"/>
          </a:xfrm>
          <a:prstGeom prst="rect">
            <a:avLst/>
          </a:prstGeom>
        </p:spPr>
      </p:pic>
    </p:spTree>
    <p:extLst>
      <p:ext uri="{BB962C8B-B14F-4D97-AF65-F5344CB8AC3E}">
        <p14:creationId xmlns:p14="http://schemas.microsoft.com/office/powerpoint/2010/main" val="431641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E4823-B86A-E5BA-51F9-A0BD50EBEEC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4A072CC-6D90-CB4E-BAAD-07BD4549F7C1}"/>
              </a:ext>
            </a:extLst>
          </p:cNvPr>
          <p:cNvSpPr>
            <a:spLocks noGrp="1"/>
          </p:cNvSpPr>
          <p:nvPr/>
        </p:nvSpPr>
        <p:spPr>
          <a:xfrm>
            <a:off x="1167492" y="136526"/>
            <a:ext cx="9779183" cy="833869"/>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4400" dirty="0">
                <a:solidFill>
                  <a:schemeClr val="accent1"/>
                </a:solidFill>
                <a:latin typeface="Times New Roman"/>
                <a:cs typeface="Times New Roman"/>
              </a:rPr>
              <a:t>Expected Outcome of this Project</a:t>
            </a:r>
            <a:endParaRPr lang="en-US" dirty="0">
              <a:solidFill>
                <a:schemeClr val="accent1"/>
              </a:solidFill>
              <a:latin typeface="Times New Roman"/>
              <a:cs typeface="Times New Roman"/>
            </a:endParaRPr>
          </a:p>
        </p:txBody>
      </p:sp>
      <p:pic>
        <p:nvPicPr>
          <p:cNvPr id="2" name="Picture 1" descr="A screenshot of a user dashboard&#10;&#10;AI-generated content may be incorrect.">
            <a:extLst>
              <a:ext uri="{FF2B5EF4-FFF2-40B4-BE49-F238E27FC236}">
                <a16:creationId xmlns:a16="http://schemas.microsoft.com/office/drawing/2014/main" id="{B5522546-81EC-0197-3696-59C85771DBC1}"/>
              </a:ext>
            </a:extLst>
          </p:cNvPr>
          <p:cNvPicPr>
            <a:picLocks noChangeAspect="1"/>
          </p:cNvPicPr>
          <p:nvPr/>
        </p:nvPicPr>
        <p:blipFill>
          <a:blip r:embed="rId2"/>
          <a:stretch>
            <a:fillRect/>
          </a:stretch>
        </p:blipFill>
        <p:spPr>
          <a:xfrm>
            <a:off x="1176632" y="1455232"/>
            <a:ext cx="10019550" cy="4619129"/>
          </a:xfrm>
          <a:prstGeom prst="rect">
            <a:avLst/>
          </a:prstGeom>
        </p:spPr>
      </p:pic>
    </p:spTree>
    <p:extLst>
      <p:ext uri="{BB962C8B-B14F-4D97-AF65-F5344CB8AC3E}">
        <p14:creationId xmlns:p14="http://schemas.microsoft.com/office/powerpoint/2010/main" val="97120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D9975-D2AD-5601-2CD8-ED971BA6437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D94D1AB-454D-0CBA-90D0-DF53E2060F1F}"/>
              </a:ext>
            </a:extLst>
          </p:cNvPr>
          <p:cNvSpPr>
            <a:spLocks noGrp="1"/>
          </p:cNvSpPr>
          <p:nvPr/>
        </p:nvSpPr>
        <p:spPr>
          <a:xfrm>
            <a:off x="1167492" y="136526"/>
            <a:ext cx="9779183" cy="833869"/>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4400" dirty="0">
                <a:solidFill>
                  <a:schemeClr val="accent1"/>
                </a:solidFill>
                <a:latin typeface="Times New Roman"/>
                <a:cs typeface="Times New Roman"/>
              </a:rPr>
              <a:t>Expected Outcome of this Project</a:t>
            </a:r>
            <a:endParaRPr lang="en-US" dirty="0">
              <a:solidFill>
                <a:schemeClr val="accent1"/>
              </a:solidFill>
              <a:latin typeface="Times New Roman"/>
              <a:cs typeface="Times New Roman"/>
            </a:endParaRPr>
          </a:p>
        </p:txBody>
      </p:sp>
      <p:pic>
        <p:nvPicPr>
          <p:cNvPr id="2" name="Picture 1" descr="A screenshot of a medical scan&#10;&#10;AI-generated content may be incorrect.">
            <a:extLst>
              <a:ext uri="{FF2B5EF4-FFF2-40B4-BE49-F238E27FC236}">
                <a16:creationId xmlns:a16="http://schemas.microsoft.com/office/drawing/2014/main" id="{ABF94992-8B7B-9D9E-051E-1434885D8F79}"/>
              </a:ext>
            </a:extLst>
          </p:cNvPr>
          <p:cNvPicPr>
            <a:picLocks noChangeAspect="1"/>
          </p:cNvPicPr>
          <p:nvPr/>
        </p:nvPicPr>
        <p:blipFill>
          <a:blip r:embed="rId2"/>
          <a:stretch>
            <a:fillRect/>
          </a:stretch>
        </p:blipFill>
        <p:spPr>
          <a:xfrm>
            <a:off x="1241804" y="1455232"/>
            <a:ext cx="9889206" cy="4619129"/>
          </a:xfrm>
          <a:prstGeom prst="rect">
            <a:avLst/>
          </a:prstGeom>
        </p:spPr>
      </p:pic>
    </p:spTree>
    <p:extLst>
      <p:ext uri="{BB962C8B-B14F-4D97-AF65-F5344CB8AC3E}">
        <p14:creationId xmlns:p14="http://schemas.microsoft.com/office/powerpoint/2010/main" val="76953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3084A-E16F-E2ED-5917-BA4ECA8C373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235F173-C854-6DAB-90C8-8E175D215440}"/>
              </a:ext>
            </a:extLst>
          </p:cNvPr>
          <p:cNvSpPr>
            <a:spLocks noGrp="1"/>
          </p:cNvSpPr>
          <p:nvPr/>
        </p:nvSpPr>
        <p:spPr>
          <a:xfrm>
            <a:off x="1167492" y="136526"/>
            <a:ext cx="9779183" cy="833869"/>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4400" dirty="0">
                <a:solidFill>
                  <a:schemeClr val="accent1"/>
                </a:solidFill>
                <a:latin typeface="Times New Roman"/>
                <a:cs typeface="Times New Roman"/>
              </a:rPr>
              <a:t>Expected Outcome of this Project</a:t>
            </a:r>
            <a:endParaRPr lang="en-US" dirty="0">
              <a:solidFill>
                <a:schemeClr val="accent1"/>
              </a:solidFill>
              <a:latin typeface="Times New Roman"/>
              <a:cs typeface="Times New Roman"/>
            </a:endParaRPr>
          </a:p>
        </p:txBody>
      </p:sp>
      <p:pic>
        <p:nvPicPr>
          <p:cNvPr id="2" name="Picture 1" descr="A screenshot of a computer screen&#10;&#10;AI-generated content may be incorrect.">
            <a:extLst>
              <a:ext uri="{FF2B5EF4-FFF2-40B4-BE49-F238E27FC236}">
                <a16:creationId xmlns:a16="http://schemas.microsoft.com/office/drawing/2014/main" id="{012FF927-64A5-94B0-7393-4E5EE550F65B}"/>
              </a:ext>
            </a:extLst>
          </p:cNvPr>
          <p:cNvPicPr>
            <a:picLocks noChangeAspect="1"/>
          </p:cNvPicPr>
          <p:nvPr/>
        </p:nvPicPr>
        <p:blipFill>
          <a:blip r:embed="rId2"/>
          <a:stretch>
            <a:fillRect/>
          </a:stretch>
        </p:blipFill>
        <p:spPr>
          <a:xfrm>
            <a:off x="1326483" y="1455232"/>
            <a:ext cx="9719848" cy="4619129"/>
          </a:xfrm>
          <a:prstGeom prst="rect">
            <a:avLst/>
          </a:prstGeom>
        </p:spPr>
      </p:pic>
    </p:spTree>
    <p:extLst>
      <p:ext uri="{BB962C8B-B14F-4D97-AF65-F5344CB8AC3E}">
        <p14:creationId xmlns:p14="http://schemas.microsoft.com/office/powerpoint/2010/main" val="1373232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F04C0-3011-66B3-A9C7-90051B51E72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B06C0EB-7EAE-E6EE-23D5-5D7A134C1071}"/>
              </a:ext>
            </a:extLst>
          </p:cNvPr>
          <p:cNvSpPr>
            <a:spLocks noGrp="1"/>
          </p:cNvSpPr>
          <p:nvPr/>
        </p:nvSpPr>
        <p:spPr>
          <a:xfrm>
            <a:off x="1167492" y="136526"/>
            <a:ext cx="9779183" cy="833869"/>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4400" dirty="0">
                <a:solidFill>
                  <a:schemeClr val="accent1"/>
                </a:solidFill>
                <a:latin typeface="Times New Roman"/>
                <a:cs typeface="Times New Roman"/>
              </a:rPr>
              <a:t>Expected Outcome of this Project</a:t>
            </a:r>
            <a:endParaRPr lang="en-US" dirty="0">
              <a:solidFill>
                <a:schemeClr val="accent1"/>
              </a:solidFill>
              <a:latin typeface="Times New Roman"/>
              <a:cs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4BCED144-D257-5AC5-0E5E-AD530426A258}"/>
              </a:ext>
            </a:extLst>
          </p:cNvPr>
          <p:cNvPicPr>
            <a:picLocks noChangeAspect="1"/>
          </p:cNvPicPr>
          <p:nvPr/>
        </p:nvPicPr>
        <p:blipFill>
          <a:blip r:embed="rId2"/>
          <a:stretch>
            <a:fillRect/>
          </a:stretch>
        </p:blipFill>
        <p:spPr>
          <a:xfrm>
            <a:off x="1245134" y="1455232"/>
            <a:ext cx="9882546" cy="4619129"/>
          </a:xfrm>
          <a:prstGeom prst="rect">
            <a:avLst/>
          </a:prstGeom>
        </p:spPr>
      </p:pic>
    </p:spTree>
    <p:extLst>
      <p:ext uri="{BB962C8B-B14F-4D97-AF65-F5344CB8AC3E}">
        <p14:creationId xmlns:p14="http://schemas.microsoft.com/office/powerpoint/2010/main" val="2653784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B9452-8D05-1470-3358-4D8AF5DF01B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D106ED6-6ED0-7881-96D0-E3FC3B63A5AE}"/>
              </a:ext>
            </a:extLst>
          </p:cNvPr>
          <p:cNvSpPr>
            <a:spLocks noGrp="1"/>
          </p:cNvSpPr>
          <p:nvPr/>
        </p:nvSpPr>
        <p:spPr>
          <a:xfrm>
            <a:off x="1167492" y="136526"/>
            <a:ext cx="9779183" cy="833869"/>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4400" dirty="0">
                <a:solidFill>
                  <a:schemeClr val="accent1"/>
                </a:solidFill>
                <a:latin typeface="Times New Roman"/>
                <a:cs typeface="Times New Roman"/>
              </a:rPr>
              <a:t>Expected Outcome of this Project</a:t>
            </a:r>
            <a:endParaRPr lang="en-US" dirty="0">
              <a:solidFill>
                <a:schemeClr val="accent1"/>
              </a:solidFill>
              <a:latin typeface="Times New Roman"/>
              <a:cs typeface="Times New Roman"/>
            </a:endParaRPr>
          </a:p>
        </p:txBody>
      </p:sp>
      <p:pic>
        <p:nvPicPr>
          <p:cNvPr id="2" name="Picture 1" descr="A screenshot of a medical report&#10;&#10;AI-generated content may be incorrect.">
            <a:extLst>
              <a:ext uri="{FF2B5EF4-FFF2-40B4-BE49-F238E27FC236}">
                <a16:creationId xmlns:a16="http://schemas.microsoft.com/office/drawing/2014/main" id="{23F0F221-5CA5-994F-B1B7-A55D2E7A98CB}"/>
              </a:ext>
            </a:extLst>
          </p:cNvPr>
          <p:cNvPicPr>
            <a:picLocks noChangeAspect="1"/>
          </p:cNvPicPr>
          <p:nvPr/>
        </p:nvPicPr>
        <p:blipFill>
          <a:blip r:embed="rId2"/>
          <a:stretch>
            <a:fillRect/>
          </a:stretch>
        </p:blipFill>
        <p:spPr>
          <a:xfrm>
            <a:off x="1245134" y="1473124"/>
            <a:ext cx="9882546" cy="4583344"/>
          </a:xfrm>
          <a:prstGeom prst="rect">
            <a:avLst/>
          </a:prstGeom>
        </p:spPr>
      </p:pic>
    </p:spTree>
    <p:extLst>
      <p:ext uri="{BB962C8B-B14F-4D97-AF65-F5344CB8AC3E}">
        <p14:creationId xmlns:p14="http://schemas.microsoft.com/office/powerpoint/2010/main" val="3983183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C5894-1A4A-6CB4-AACD-C9AA7CB36B0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BDA78A1-441F-102A-27BE-50950D601294}"/>
              </a:ext>
            </a:extLst>
          </p:cNvPr>
          <p:cNvSpPr>
            <a:spLocks noGrp="1"/>
          </p:cNvSpPr>
          <p:nvPr/>
        </p:nvSpPr>
        <p:spPr>
          <a:xfrm>
            <a:off x="1167492" y="136526"/>
            <a:ext cx="9779183" cy="833869"/>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4400" dirty="0">
                <a:solidFill>
                  <a:schemeClr val="accent1"/>
                </a:solidFill>
                <a:latin typeface="Times New Roman"/>
                <a:cs typeface="Times New Roman"/>
              </a:rPr>
              <a:t>Expected Outcome of this Project</a:t>
            </a:r>
            <a:endParaRPr lang="en-US" dirty="0">
              <a:solidFill>
                <a:schemeClr val="accent1"/>
              </a:solidFill>
              <a:latin typeface="Times New Roman"/>
              <a:cs typeface="Times New Roman"/>
            </a:endParaRPr>
          </a:p>
        </p:txBody>
      </p:sp>
      <p:pic>
        <p:nvPicPr>
          <p:cNvPr id="2" name="Picture 1" descr="A screenshot of a medical report&#10;&#10;AI-generated content may be incorrect.">
            <a:extLst>
              <a:ext uri="{FF2B5EF4-FFF2-40B4-BE49-F238E27FC236}">
                <a16:creationId xmlns:a16="http://schemas.microsoft.com/office/drawing/2014/main" id="{84EAA88B-310A-F00B-48D1-0EADE55FF090}"/>
              </a:ext>
            </a:extLst>
          </p:cNvPr>
          <p:cNvPicPr>
            <a:picLocks noChangeAspect="1"/>
          </p:cNvPicPr>
          <p:nvPr/>
        </p:nvPicPr>
        <p:blipFill>
          <a:blip r:embed="rId2"/>
          <a:stretch>
            <a:fillRect/>
          </a:stretch>
        </p:blipFill>
        <p:spPr>
          <a:xfrm>
            <a:off x="1245134" y="1479869"/>
            <a:ext cx="9882546" cy="4569854"/>
          </a:xfrm>
          <a:prstGeom prst="rect">
            <a:avLst/>
          </a:prstGeom>
        </p:spPr>
      </p:pic>
    </p:spTree>
    <p:extLst>
      <p:ext uri="{BB962C8B-B14F-4D97-AF65-F5344CB8AC3E}">
        <p14:creationId xmlns:p14="http://schemas.microsoft.com/office/powerpoint/2010/main" val="186639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7EF0E-A4DB-A45B-805F-CE2930D2BB3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97EF58C-138C-55F4-DA77-4C3F06C81A1C}"/>
              </a:ext>
            </a:extLst>
          </p:cNvPr>
          <p:cNvSpPr>
            <a:spLocks noGrp="1"/>
          </p:cNvSpPr>
          <p:nvPr/>
        </p:nvSpPr>
        <p:spPr>
          <a:xfrm>
            <a:off x="0" y="457200"/>
            <a:ext cx="12192000" cy="55811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4400" dirty="0">
                <a:solidFill>
                  <a:schemeClr val="accent1"/>
                </a:solidFill>
                <a:latin typeface="Times New Roman" panose="02020603050405020304" pitchFamily="18" charset="0"/>
                <a:cs typeface="Times New Roman" panose="02020603050405020304" pitchFamily="18" charset="0"/>
              </a:rPr>
              <a:t>Conclusion</a:t>
            </a:r>
            <a:endParaRPr lang="en-US" sz="4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9B5DDE7C-335B-FD23-E1E6-CDCB99B7878C}"/>
              </a:ext>
            </a:extLst>
          </p:cNvPr>
          <p:cNvSpPr>
            <a:spLocks noGrp="1"/>
          </p:cNvSpPr>
          <p:nvPr/>
        </p:nvSpPr>
        <p:spPr>
          <a:xfrm>
            <a:off x="773457" y="1127683"/>
            <a:ext cx="10398809" cy="529045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mn-lt"/>
                <a:ea typeface="+mn-ea"/>
                <a:cs typeface="+mn-cs"/>
              </a:defRPr>
            </a:lvl1pPr>
            <a:lvl2pPr marL="283464" indent="-283464"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2pPr>
            <a:lvl3pPr marL="566928" indent="-283464"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3pPr>
            <a:lvl4pPr marL="850392" indent="-283464"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4pPr>
            <a:lvl5pPr marL="1133856" indent="-283464"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3000" dirty="0">
                <a:solidFill>
                  <a:schemeClr val="tx1">
                    <a:lumMod val="95000"/>
                    <a:lumOff val="5000"/>
                  </a:schemeClr>
                </a:solidFill>
                <a:latin typeface="Times New Roman"/>
                <a:ea typeface="+mn-lt"/>
                <a:cs typeface="+mn-lt"/>
              </a:rPr>
              <a:t>   Lung cancer detection using CT image processing and machine learning has the potential to revolutionize early diagnosis and treatment planning. It offers high accuracy, automation, and efficiency, reducing the burden on radiologists and improving patient outcomes. </a:t>
            </a:r>
            <a:endParaRPr lang="en-US">
              <a:solidFill>
                <a:schemeClr val="tx1">
                  <a:lumMod val="95000"/>
                  <a:lumOff val="5000"/>
                </a:schemeClr>
              </a:solidFill>
              <a:latin typeface="Times New Roman"/>
              <a:ea typeface="+mn-lt"/>
              <a:cs typeface="+mn-lt"/>
            </a:endParaRPr>
          </a:p>
          <a:p>
            <a:pPr algn="just"/>
            <a:r>
              <a:rPr lang="en-US" sz="3000" dirty="0">
                <a:solidFill>
                  <a:schemeClr val="tx1">
                    <a:lumMod val="95000"/>
                    <a:lumOff val="5000"/>
                  </a:schemeClr>
                </a:solidFill>
                <a:latin typeface="Times New Roman"/>
                <a:ea typeface="+mn-lt"/>
                <a:cs typeface="+mn-lt"/>
              </a:rPr>
              <a:t>   However, challenges such as high computational requirements, data availability, and ethical concerns must be carefully addressed. Despite these limitations, continuous advancements in AI and medical imaging are making this approach increasingly reliable, cost-effective, and non-invasive cancer detection in the future.</a:t>
            </a:r>
            <a:endParaRPr lang="en-US">
              <a:solidFill>
                <a:schemeClr val="tx1">
                  <a:lumMod val="95000"/>
                  <a:lumOff val="5000"/>
                </a:schemeClr>
              </a:solidFill>
              <a:latin typeface="Times New Roman"/>
              <a:ea typeface="+mn-lt"/>
              <a:cs typeface="+mn-lt"/>
            </a:endParaRPr>
          </a:p>
        </p:txBody>
      </p:sp>
    </p:spTree>
    <p:extLst>
      <p:ext uri="{BB962C8B-B14F-4D97-AF65-F5344CB8AC3E}">
        <p14:creationId xmlns:p14="http://schemas.microsoft.com/office/powerpoint/2010/main" val="726521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F7163-DED6-86ED-8F3A-FF6F7304C2C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902D992-A36A-D232-06DB-7C4DB6A01BC1}"/>
              </a:ext>
            </a:extLst>
          </p:cNvPr>
          <p:cNvSpPr>
            <a:spLocks noGrp="1"/>
          </p:cNvSpPr>
          <p:nvPr/>
        </p:nvSpPr>
        <p:spPr>
          <a:xfrm>
            <a:off x="0" y="457200"/>
            <a:ext cx="12192000" cy="55811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5400" b="0" dirty="0">
                <a:solidFill>
                  <a:schemeClr val="accent1"/>
                </a:solidFill>
                <a:ea typeface="+mj-lt"/>
                <a:cs typeface="+mj-lt"/>
              </a:rPr>
              <a:t>References</a:t>
            </a:r>
            <a:endParaRPr lang="en-US" sz="4800" b="0">
              <a:solidFill>
                <a:schemeClr val="accent1"/>
              </a:solidFill>
              <a:ea typeface="+mj-lt"/>
              <a:cs typeface="+mj-lt"/>
            </a:endParaRPr>
          </a:p>
        </p:txBody>
      </p:sp>
      <p:sp>
        <p:nvSpPr>
          <p:cNvPr id="4" name="Content Placeholder 2">
            <a:extLst>
              <a:ext uri="{FF2B5EF4-FFF2-40B4-BE49-F238E27FC236}">
                <a16:creationId xmlns:a16="http://schemas.microsoft.com/office/drawing/2014/main" id="{A1A4B09D-5D3B-A205-CBFD-9473687725F1}"/>
              </a:ext>
            </a:extLst>
          </p:cNvPr>
          <p:cNvSpPr>
            <a:spLocks noGrp="1"/>
          </p:cNvSpPr>
          <p:nvPr/>
        </p:nvSpPr>
        <p:spPr>
          <a:xfrm>
            <a:off x="773457" y="1127683"/>
            <a:ext cx="10398809" cy="529045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mn-lt"/>
                <a:ea typeface="+mn-ea"/>
                <a:cs typeface="+mn-cs"/>
              </a:defRPr>
            </a:lvl1pPr>
            <a:lvl2pPr marL="283464" indent="-283464"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2pPr>
            <a:lvl3pPr marL="566928" indent="-283464"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3pPr>
            <a:lvl4pPr marL="850392" indent="-283464"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4pPr>
            <a:lvl5pPr marL="1133856" indent="-283464"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AutoNum type="arabicPeriod"/>
            </a:pPr>
            <a:r>
              <a:rPr lang="en-US" sz="3000" dirty="0">
                <a:solidFill>
                  <a:schemeClr val="tx1">
                    <a:lumMod val="95000"/>
                    <a:lumOff val="5000"/>
                  </a:schemeClr>
                </a:solidFill>
                <a:ea typeface="+mn-lt"/>
                <a:cs typeface="+mn-lt"/>
              </a:rPr>
              <a:t>S. Saxena, S. N. Prasad, A. M. </a:t>
            </a:r>
            <a:r>
              <a:rPr lang="en-US" sz="3000" dirty="0" err="1">
                <a:solidFill>
                  <a:schemeClr val="tx1">
                    <a:lumMod val="95000"/>
                    <a:lumOff val="5000"/>
                  </a:schemeClr>
                </a:solidFill>
                <a:ea typeface="+mn-lt"/>
                <a:cs typeface="+mn-lt"/>
              </a:rPr>
              <a:t>Polnaya</a:t>
            </a:r>
            <a:r>
              <a:rPr lang="en-US" sz="3000" dirty="0">
                <a:solidFill>
                  <a:schemeClr val="tx1">
                    <a:lumMod val="95000"/>
                    <a:lumOff val="5000"/>
                  </a:schemeClr>
                </a:solidFill>
                <a:ea typeface="+mn-lt"/>
                <a:cs typeface="+mn-lt"/>
              </a:rPr>
              <a:t>, and S. Agarwala, “Hybrid Deep Convolution Model for Lung Cancer Detection with Transfer Learning,” </a:t>
            </a:r>
            <a:r>
              <a:rPr lang="en-US" sz="3000" dirty="0" err="1">
                <a:solidFill>
                  <a:schemeClr val="tx1">
                    <a:lumMod val="95000"/>
                    <a:lumOff val="5000"/>
                  </a:schemeClr>
                </a:solidFill>
                <a:ea typeface="+mn-lt"/>
                <a:cs typeface="+mn-lt"/>
              </a:rPr>
              <a:t>arXiv</a:t>
            </a:r>
            <a:r>
              <a:rPr lang="en-US" sz="3000" dirty="0">
                <a:solidFill>
                  <a:schemeClr val="tx1">
                    <a:lumMod val="95000"/>
                    <a:lumOff val="5000"/>
                  </a:schemeClr>
                </a:solidFill>
                <a:ea typeface="+mn-lt"/>
                <a:cs typeface="+mn-lt"/>
              </a:rPr>
              <a:t> preprint arXiv:2501.02785, Jan. 2025. [Online]. Available: </a:t>
            </a:r>
            <a:r>
              <a:rPr lang="en-US" sz="3000" dirty="0">
                <a:solidFill>
                  <a:schemeClr val="tx1">
                    <a:lumMod val="95000"/>
                    <a:lumOff val="5000"/>
                  </a:schemeClr>
                </a:solidFill>
                <a:ea typeface="+mn-lt"/>
                <a:cs typeface="+mn-lt"/>
                <a:hlinkClick r:id="rId2">
                  <a:extLst>
                    <a:ext uri="{A12FA001-AC4F-418D-AE19-62706E023703}">
                      <ahyp:hlinkClr xmlns:ahyp="http://schemas.microsoft.com/office/drawing/2018/hyperlinkcolor" val="tx"/>
                    </a:ext>
                  </a:extLst>
                </a:hlinkClick>
              </a:rPr>
              <a:t>https://arxiv.org/abs/2501.02785</a:t>
            </a:r>
            <a:endParaRPr lang="en-US">
              <a:solidFill>
                <a:schemeClr val="tx1">
                  <a:lumMod val="95000"/>
                  <a:lumOff val="5000"/>
                </a:schemeClr>
              </a:solidFill>
              <a:ea typeface="+mn-lt"/>
              <a:cs typeface="+mn-lt"/>
            </a:endParaRPr>
          </a:p>
          <a:p>
            <a:pPr marL="514350" indent="-514350" algn="just">
              <a:buAutoNum type="arabicPeriod"/>
            </a:pPr>
            <a:r>
              <a:rPr lang="en-US" sz="3000" dirty="0">
                <a:solidFill>
                  <a:schemeClr val="tx1">
                    <a:lumMod val="95000"/>
                    <a:lumOff val="5000"/>
                  </a:schemeClr>
                </a:solidFill>
                <a:ea typeface="+mn-lt"/>
                <a:cs typeface="+mn-lt"/>
              </a:rPr>
              <a:t>A. Chaudhari, A. Singh, S. </a:t>
            </a:r>
            <a:r>
              <a:rPr lang="en-US" sz="3000" dirty="0" err="1">
                <a:solidFill>
                  <a:schemeClr val="tx1">
                    <a:lumMod val="95000"/>
                    <a:lumOff val="5000"/>
                  </a:schemeClr>
                </a:solidFill>
                <a:ea typeface="+mn-lt"/>
                <a:cs typeface="+mn-lt"/>
              </a:rPr>
              <a:t>Gajbhiye</a:t>
            </a:r>
            <a:r>
              <a:rPr lang="en-US" sz="3000" dirty="0">
                <a:solidFill>
                  <a:schemeClr val="tx1">
                    <a:lumMod val="95000"/>
                    <a:lumOff val="5000"/>
                  </a:schemeClr>
                </a:solidFill>
                <a:ea typeface="+mn-lt"/>
                <a:cs typeface="+mn-lt"/>
              </a:rPr>
              <a:t>, and P. Agrawal, “Lung Cancer Detection Using Deep Learning,” </a:t>
            </a:r>
            <a:r>
              <a:rPr lang="en-US" sz="3000" dirty="0" err="1">
                <a:solidFill>
                  <a:schemeClr val="tx1">
                    <a:lumMod val="95000"/>
                    <a:lumOff val="5000"/>
                  </a:schemeClr>
                </a:solidFill>
                <a:ea typeface="+mn-lt"/>
                <a:cs typeface="+mn-lt"/>
              </a:rPr>
              <a:t>arXiv</a:t>
            </a:r>
            <a:r>
              <a:rPr lang="en-US" sz="3000" dirty="0">
                <a:solidFill>
                  <a:schemeClr val="tx1">
                    <a:lumMod val="95000"/>
                    <a:lumOff val="5000"/>
                  </a:schemeClr>
                </a:solidFill>
                <a:ea typeface="+mn-lt"/>
                <a:cs typeface="+mn-lt"/>
              </a:rPr>
              <a:t> preprint arXiv:2501.07197, Jan. 2025. [Online]. Available: </a:t>
            </a:r>
            <a:r>
              <a:rPr lang="en-US" sz="3000" dirty="0">
                <a:solidFill>
                  <a:schemeClr val="tx1">
                    <a:lumMod val="95000"/>
                    <a:lumOff val="5000"/>
                  </a:schemeClr>
                </a:solidFill>
                <a:ea typeface="+mn-lt"/>
                <a:cs typeface="+mn-lt"/>
                <a:hlinkClick r:id="rId3">
                  <a:extLst>
                    <a:ext uri="{A12FA001-AC4F-418D-AE19-62706E023703}">
                      <ahyp:hlinkClr xmlns:ahyp="http://schemas.microsoft.com/office/drawing/2018/hyperlinkcolor" val="tx"/>
                    </a:ext>
                  </a:extLst>
                </a:hlinkClick>
              </a:rPr>
              <a:t>https://arxiv.org/abs/2501.07197</a:t>
            </a:r>
            <a:endParaRPr lang="en-US">
              <a:solidFill>
                <a:schemeClr val="tx1">
                  <a:lumMod val="95000"/>
                  <a:lumOff val="5000"/>
                </a:schemeClr>
              </a:solidFill>
            </a:endParaRPr>
          </a:p>
          <a:p>
            <a:pPr marL="514350" indent="-514350" algn="just">
              <a:buAutoNum type="arabicPeriod"/>
            </a:pPr>
            <a:endParaRPr lang="en-US" sz="3000" dirty="0">
              <a:solidFill>
                <a:schemeClr val="tx1">
                  <a:lumMod val="95000"/>
                  <a:lumOff val="5000"/>
                </a:schemeClr>
              </a:solidFill>
              <a:ea typeface="+mn-lt"/>
              <a:cs typeface="+mn-lt"/>
            </a:endParaRPr>
          </a:p>
        </p:txBody>
      </p:sp>
    </p:spTree>
    <p:extLst>
      <p:ext uri="{BB962C8B-B14F-4D97-AF65-F5344CB8AC3E}">
        <p14:creationId xmlns:p14="http://schemas.microsoft.com/office/powerpoint/2010/main" val="2995725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3CD31-7F4D-88AB-CD1C-B54741433B6C}"/>
            </a:ext>
          </a:extLst>
        </p:cNvPr>
        <p:cNvGrpSpPr/>
        <p:nvPr/>
      </p:nvGrpSpPr>
      <p:grpSpPr>
        <a:xfrm>
          <a:off x="0" y="0"/>
          <a:ext cx="0" cy="0"/>
          <a:chOff x="0" y="0"/>
          <a:chExt cx="0" cy="0"/>
        </a:xfrm>
      </p:grpSpPr>
      <p:sp>
        <p:nvSpPr>
          <p:cNvPr id="3" name="Title 6">
            <a:extLst>
              <a:ext uri="{FF2B5EF4-FFF2-40B4-BE49-F238E27FC236}">
                <a16:creationId xmlns:a16="http://schemas.microsoft.com/office/drawing/2014/main" id="{81C753FD-96EC-101A-B8A4-5F69A189BEF4}"/>
              </a:ext>
            </a:extLst>
          </p:cNvPr>
          <p:cNvSpPr>
            <a:spLocks noGrp="1"/>
          </p:cNvSpPr>
          <p:nvPr/>
        </p:nvSpPr>
        <p:spPr>
          <a:xfrm rot="20100000">
            <a:off x="0" y="2559143"/>
            <a:ext cx="12192000" cy="1347513"/>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6000" b="1" kern="1200">
                <a:solidFill>
                  <a:schemeClr val="tx1"/>
                </a:solidFill>
                <a:latin typeface="+mj-lt"/>
                <a:ea typeface="+mj-ea"/>
                <a:cs typeface="+mj-cs"/>
              </a:defRPr>
            </a:lvl1pPr>
          </a:lstStyle>
          <a:p>
            <a:pPr algn="ctr"/>
            <a:r>
              <a:rPr lang="en-US" sz="9600"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Times New Roman"/>
                <a:cs typeface="Times New Roman"/>
              </a:rPr>
              <a:t>Thank you</a:t>
            </a:r>
            <a:endParaRPr lang="en-US" sz="9600" dirty="0">
              <a:ln w="17780" cmpd="sng">
                <a:solidFill>
                  <a:srgbClr val="0068FF">
                    <a:tint val="3000"/>
                  </a:srgbClr>
                </a:solidFill>
                <a:prstDash val="solid"/>
                <a:miter lim="800000"/>
              </a:ln>
              <a:gradFill>
                <a:gsLst>
                  <a:gs pos="10000">
                    <a:srgbClr val="0068FF">
                      <a:tint val="63000"/>
                      <a:sat val="105000"/>
                    </a:srgbClr>
                  </a:gs>
                  <a:gs pos="90000">
                    <a:srgbClr val="0068FF">
                      <a:shade val="50000"/>
                      <a:satMod val="100000"/>
                    </a:srgbClr>
                  </a:gs>
                </a:gsLst>
                <a:lin ang="5400000"/>
              </a:gradFill>
              <a:effectLst>
                <a:outerShdw blurRad="55000" dist="50800" dir="5400000" algn="tl">
                  <a:srgbClr val="000000">
                    <a:alpha val="33000"/>
                  </a:srgbClr>
                </a:outerShdw>
              </a:effectLst>
              <a:latin typeface="Times New Roman"/>
              <a:cs typeface="Times New Roman"/>
            </a:endParaRPr>
          </a:p>
        </p:txBody>
      </p:sp>
    </p:spTree>
    <p:extLst>
      <p:ext uri="{BB962C8B-B14F-4D97-AF65-F5344CB8AC3E}">
        <p14:creationId xmlns:p14="http://schemas.microsoft.com/office/powerpoint/2010/main" val="1075326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Proposed System  </vt:lpstr>
      <vt:lpstr>PowerPoint Presentation</vt:lpstr>
      <vt:lpstr>Existing System</vt:lpstr>
      <vt:lpstr>Methedology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178</cp:revision>
  <dcterms:created xsi:type="dcterms:W3CDTF">2025-04-02T14:28:33Z</dcterms:created>
  <dcterms:modified xsi:type="dcterms:W3CDTF">2025-12-06T08:14:14Z</dcterms:modified>
</cp:coreProperties>
</file>